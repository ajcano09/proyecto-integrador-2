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B718"/>
    <a:srgbClr val="0D98D7"/>
    <a:srgbClr val="1744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35" autoAdjust="0"/>
    <p:restoredTop sz="96259" autoAdjust="0"/>
  </p:normalViewPr>
  <p:slideViewPr>
    <p:cSldViewPr snapToGrid="0">
      <p:cViewPr varScale="1">
        <p:scale>
          <a:sx n="106" d="100"/>
          <a:sy n="106" d="100"/>
        </p:scale>
        <p:origin x="654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E096D6C2-88C4-41EE-9ECB-BAD832CF12AB}" type="datetimeFigureOut">
              <a:rPr lang="es-NI" smtClean="0"/>
              <a:t>10/10/2026</a:t>
            </a:fld>
            <a:endParaRPr lang="es-NI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s-NI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B8644883-4F96-4370-91F7-EC4CCCC9A888}" type="slidenum">
              <a:rPr lang="es-NI" smtClean="0"/>
              <a:t>‹#›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72684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82" y="1789"/>
            <a:ext cx="12188817" cy="685621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44282" y="1840523"/>
            <a:ext cx="5231026" cy="2149351"/>
          </a:xfrm>
        </p:spPr>
        <p:txBody>
          <a:bodyPr anchor="b">
            <a:noAutofit/>
          </a:bodyPr>
          <a:lstStyle>
            <a:lvl1pPr algn="l">
              <a:defRPr sz="4400" b="1">
                <a:solidFill>
                  <a:srgbClr val="0D98D7"/>
                </a:solidFill>
                <a:latin typeface="Tw Cen MT" panose="020B0602020104020603" pitchFamily="34" charset="77"/>
                <a:cs typeface="Courier New" panose="02070309020205020404" pitchFamily="49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244281" y="4242486"/>
            <a:ext cx="5231026" cy="118145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17447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editar el estilo de subtítulo del patrón</a:t>
            </a:r>
            <a:endParaRPr lang="en-U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10/10/2026</a:t>
            </a:fld>
            <a:endParaRPr lang="en-U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74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1" y="1856"/>
            <a:ext cx="12185521" cy="685435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 b="1">
                <a:solidFill>
                  <a:srgbClr val="0D98D7"/>
                </a:solidFill>
                <a:latin typeface="Tw Cen MT" panose="020B0602020104020603" pitchFamily="34" charset="77"/>
                <a:cs typeface="Courier New" panose="02070309020205020404" pitchFamily="49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174473"/>
                </a:solidFill>
                <a:latin typeface="Calibri cuerpo"/>
              </a:defRPr>
            </a:lvl1pPr>
            <a:lvl2pPr>
              <a:defRPr>
                <a:solidFill>
                  <a:srgbClr val="174473"/>
                </a:solidFill>
                <a:latin typeface="Calibri cuerpo"/>
              </a:defRPr>
            </a:lvl2pPr>
            <a:lvl3pPr>
              <a:defRPr>
                <a:solidFill>
                  <a:srgbClr val="174473"/>
                </a:solidFill>
                <a:latin typeface="Calibri cuerpo"/>
              </a:defRPr>
            </a:lvl3pPr>
            <a:lvl4pPr>
              <a:defRPr>
                <a:solidFill>
                  <a:srgbClr val="174473"/>
                </a:solidFill>
                <a:latin typeface="Calibri cuerpo"/>
              </a:defRPr>
            </a:lvl4pPr>
            <a:lvl5pPr>
              <a:defRPr>
                <a:solidFill>
                  <a:srgbClr val="174473"/>
                </a:solidFill>
                <a:latin typeface="Calibri cuerpo"/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2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6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592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666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2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00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52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59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54116-522A-43FA-A07B-AF425C3CADE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D79B-CE85-4CB9-8BC4-26C9F168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0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54116-522A-43FA-A07B-AF425C3CADE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2D79B-CE85-4CB9-8BC4-26C9F168B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7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365760"/>
            <a:ext cx="10515600" cy="1051560"/>
          </a:xfrm>
          <a:prstGeom prst="rect">
            <a:avLst/>
          </a:prstGeom>
          <a:solidFill>
            <a:srgbClr val="09235B"/>
          </a:solidFill>
          <a:ln w="14604">
            <a:solidFill>
              <a:srgbClr val="092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8200" y="1417320"/>
            <a:ext cx="10515600" cy="42062"/>
          </a:xfrm>
          <a:prstGeom prst="rect">
            <a:avLst/>
          </a:prstGeom>
          <a:solidFill>
            <a:srgbClr val="E3B23C"/>
          </a:solidFill>
          <a:ln w="14604">
            <a:solidFill>
              <a:srgbClr val="E3B2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32433" y="470916"/>
            <a:ext cx="715060" cy="841247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4604">
            <a:solidFill>
              <a:srgbClr val="FFFFFF"/>
            </a:solidFill>
            <a:prstDash val="solid"/>
          </a:ln>
        </p:spPr>
      </p:sp>
      <p:pic>
        <p:nvPicPr>
          <p:cNvPr id="5" name="Image 0" descr="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558" y="534009"/>
            <a:ext cx="546811" cy="7150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57806" y="534009"/>
            <a:ext cx="1682495" cy="588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AUTÓNOMA DE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NICARAGUA, MANAGUA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2257806" y="1122883"/>
            <a:ext cx="1682495" cy="210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35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UNAN-MANAGUA</a:t>
            </a:r>
            <a:endParaRPr lang="en-US" sz="1035" dirty="0"/>
          </a:p>
        </p:txBody>
      </p:sp>
      <p:sp>
        <p:nvSpPr>
          <p:cNvPr id="8" name="Shape 5"/>
          <p:cNvSpPr/>
          <p:nvPr/>
        </p:nvSpPr>
        <p:spPr>
          <a:xfrm>
            <a:off x="3961333" y="586587"/>
            <a:ext cx="0" cy="599389"/>
          </a:xfrm>
          <a:prstGeom prst="line">
            <a:avLst/>
          </a:prstGeom>
          <a:noFill/>
          <a:ln w="10953">
            <a:solidFill>
              <a:srgbClr val="AAB7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03192" y="470916"/>
            <a:ext cx="6835139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Universitario Regional de Carazo</a:t>
            </a:r>
            <a:endParaRPr lang="en-US" sz="2070" dirty="0"/>
          </a:p>
        </p:txBody>
      </p:sp>
      <p:sp>
        <p:nvSpPr>
          <p:cNvPr id="10" name="Text 7"/>
          <p:cNvSpPr txBox="1"/>
          <p:nvPr/>
        </p:nvSpPr>
        <p:spPr>
          <a:xfrm>
            <a:off x="4203192" y="807415"/>
            <a:ext cx="683513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“Miguel Ángel Ortez”</a:t>
            </a:r>
            <a:endParaRPr lang="en-US" sz="2070" dirty="0"/>
          </a:p>
        </p:txBody>
      </p:sp>
      <p:sp>
        <p:nvSpPr>
          <p:cNvPr id="11" name="Text 8"/>
          <p:cNvSpPr txBox="1"/>
          <p:nvPr/>
        </p:nvSpPr>
        <p:spPr>
          <a:xfrm>
            <a:off x="4203192" y="1143914"/>
            <a:ext cx="6835139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94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Ciencias Tecnológicas y Salud</a:t>
            </a:r>
            <a:endParaRPr lang="en-US" sz="1494" dirty="0"/>
          </a:p>
        </p:txBody>
      </p:sp>
      <p:sp>
        <p:nvSpPr>
          <p:cNvPr id="12" name="Text 9"/>
          <p:cNvSpPr txBox="1"/>
          <p:nvPr/>
        </p:nvSpPr>
        <p:spPr>
          <a:xfrm>
            <a:off x="838200" y="1606600"/>
            <a:ext cx="1051560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79" b="1" dirty="0">
                <a:solidFill>
                  <a:srgbClr val="09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II</a:t>
            </a:r>
            <a:endParaRPr lang="en-US" sz="3679" dirty="0"/>
          </a:p>
        </p:txBody>
      </p:sp>
      <p:sp>
        <p:nvSpPr>
          <p:cNvPr id="13" name="Text 10"/>
          <p:cNvSpPr txBox="1"/>
          <p:nvPr/>
        </p:nvSpPr>
        <p:spPr>
          <a:xfrm>
            <a:off x="838200" y="2174443"/>
            <a:ext cx="1051560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7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Explora-Nicaragua</a:t>
            </a:r>
            <a:endParaRPr lang="en-US" sz="2070" dirty="0"/>
          </a:p>
        </p:txBody>
      </p:sp>
      <p:sp>
        <p:nvSpPr>
          <p:cNvPr id="14" name="Shape 11"/>
          <p:cNvSpPr/>
          <p:nvPr/>
        </p:nvSpPr>
        <p:spPr>
          <a:xfrm>
            <a:off x="4203192" y="2595067"/>
            <a:ext cx="3785615" cy="273405"/>
          </a:xfrm>
          <a:prstGeom prst="rect">
            <a:avLst/>
          </a:prstGeom>
          <a:solidFill>
            <a:srgbClr val="E3B23C"/>
          </a:solidFill>
          <a:ln w="14604">
            <a:solidFill>
              <a:srgbClr val="E3B2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03192" y="2595067"/>
            <a:ext cx="3785615" cy="273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9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INTEGRADOR II · SEGUNDO CORTE EVALUATIVO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332433" y="2868472"/>
            <a:ext cx="315467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b="1" dirty="0">
                <a:solidFill>
                  <a:srgbClr val="09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609" dirty="0"/>
          </a:p>
        </p:txBody>
      </p:sp>
      <p:sp>
        <p:nvSpPr>
          <p:cNvPr id="17" name="Shape 14"/>
          <p:cNvSpPr/>
          <p:nvPr/>
        </p:nvSpPr>
        <p:spPr>
          <a:xfrm>
            <a:off x="1332433" y="3162909"/>
            <a:ext cx="1261872" cy="31546"/>
          </a:xfrm>
          <a:prstGeom prst="rect">
            <a:avLst/>
          </a:prstGeom>
          <a:solidFill>
            <a:srgbClr val="E3B23C"/>
          </a:solidFill>
          <a:ln w="14604">
            <a:solidFill>
              <a:srgbClr val="E3B23C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660540"/>
              </p:ext>
            </p:extLst>
          </p:nvPr>
        </p:nvGraphicFramePr>
        <p:xfrm>
          <a:off x="1332433" y="3247034"/>
          <a:ext cx="4574284" cy="990600"/>
        </p:xfrm>
        <a:graphic>
          <a:graphicData uri="http://schemas.openxmlformats.org/drawingml/2006/table">
            <a:tbl>
              <a:tblPr/>
              <a:tblGrid>
                <a:gridCol w="1524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9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Carné</a:t>
                      </a:r>
                      <a:endParaRPr lang="en-US" sz="126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3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5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Estudiante</a:t>
                      </a:r>
                      <a:endParaRPr lang="en-US" sz="126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23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5" dirty="0">
                          <a:solidFill>
                            <a:srgbClr val="1A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completar</a:t>
                      </a:r>
                      <a:endParaRPr lang="en-US" sz="126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5" dirty="0">
                          <a:solidFill>
                            <a:srgbClr val="1A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Nohelia Nohemi Nicoya Bravo</a:t>
                      </a:r>
                      <a:endParaRPr lang="en-US" sz="126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5" dirty="0">
                          <a:solidFill>
                            <a:srgbClr val="1A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completar</a:t>
                      </a:r>
                      <a:endParaRPr lang="en-US" sz="126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5" dirty="0">
                          <a:solidFill>
                            <a:srgbClr val="1A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Geoconda Nicole López Baltodano</a:t>
                      </a:r>
                      <a:endParaRPr lang="en-US" sz="126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5" dirty="0">
                          <a:solidFill>
                            <a:srgbClr val="1A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completar</a:t>
                      </a:r>
                      <a:endParaRPr lang="en-US" sz="126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5" dirty="0">
                          <a:solidFill>
                            <a:srgbClr val="1A1C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Alexander José Cano Calero</a:t>
                      </a:r>
                      <a:endParaRPr lang="en-US" sz="1265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6285280" y="2868472"/>
            <a:ext cx="315467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b="1" dirty="0">
                <a:solidFill>
                  <a:srgbClr val="09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generales</a:t>
            </a:r>
            <a:endParaRPr lang="en-US" sz="1609" dirty="0"/>
          </a:p>
        </p:txBody>
      </p:sp>
      <p:sp>
        <p:nvSpPr>
          <p:cNvPr id="20" name="Shape 16"/>
          <p:cNvSpPr/>
          <p:nvPr/>
        </p:nvSpPr>
        <p:spPr>
          <a:xfrm>
            <a:off x="6285280" y="3162909"/>
            <a:ext cx="1261872" cy="31546"/>
          </a:xfrm>
          <a:prstGeom prst="rect">
            <a:avLst/>
          </a:prstGeom>
          <a:solidFill>
            <a:srgbClr val="E3B23C"/>
          </a:solidFill>
          <a:ln w="14604">
            <a:solidFill>
              <a:srgbClr val="E3B23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85280" y="3310128"/>
            <a:ext cx="4574286" cy="1577339"/>
          </a:xfrm>
          <a:prstGeom prst="rect">
            <a:avLst/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Shape 18"/>
          <p:cNvSpPr/>
          <p:nvPr/>
        </p:nvSpPr>
        <p:spPr>
          <a:xfrm>
            <a:off x="6285280" y="3310128"/>
            <a:ext cx="73609" cy="1577339"/>
          </a:xfrm>
          <a:prstGeom prst="rect">
            <a:avLst/>
          </a:prstGeom>
          <a:solidFill>
            <a:srgbClr val="09235B"/>
          </a:solidFill>
          <a:ln w="14604">
            <a:solidFill>
              <a:srgbClr val="09235B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516624" y="3436315"/>
            <a:ext cx="1472184" cy="27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 b="1" dirty="0">
                <a:solidFill>
                  <a:srgbClr val="09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Carrera:</a:t>
            </a:r>
            <a:endParaRPr lang="en-US" sz="1380" dirty="0"/>
          </a:p>
        </p:txBody>
      </p:sp>
      <p:sp>
        <p:nvSpPr>
          <p:cNvPr id="24" name="Text 20"/>
          <p:cNvSpPr txBox="1"/>
          <p:nvPr/>
        </p:nvSpPr>
        <p:spPr>
          <a:xfrm>
            <a:off x="8041385" y="3436315"/>
            <a:ext cx="2734056" cy="27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Sistemas</a:t>
            </a:r>
            <a:endParaRPr lang="en-US" sz="1380" dirty="0"/>
          </a:p>
        </p:txBody>
      </p:sp>
      <p:sp>
        <p:nvSpPr>
          <p:cNvPr id="25" name="Shape 21"/>
          <p:cNvSpPr/>
          <p:nvPr/>
        </p:nvSpPr>
        <p:spPr>
          <a:xfrm>
            <a:off x="8041385" y="3730751"/>
            <a:ext cx="2734056" cy="0"/>
          </a:xfrm>
          <a:prstGeom prst="line">
            <a:avLst/>
          </a:prstGeom>
          <a:noFill/>
          <a:ln w="10953">
            <a:solidFill>
              <a:srgbClr val="A3B1C9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516624" y="3793845"/>
            <a:ext cx="1472184" cy="27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 b="1" dirty="0">
                <a:solidFill>
                  <a:srgbClr val="09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Año:</a:t>
            </a:r>
            <a:endParaRPr lang="en-US" sz="1380" dirty="0"/>
          </a:p>
        </p:txBody>
      </p:sp>
      <p:sp>
        <p:nvSpPr>
          <p:cNvPr id="27" name="Shape 23"/>
          <p:cNvSpPr/>
          <p:nvPr/>
        </p:nvSpPr>
        <p:spPr>
          <a:xfrm>
            <a:off x="8041385" y="4088282"/>
            <a:ext cx="2734056" cy="0"/>
          </a:xfrm>
          <a:prstGeom prst="line">
            <a:avLst/>
          </a:prstGeom>
          <a:noFill/>
          <a:ln w="10953">
            <a:solidFill>
              <a:srgbClr val="A3B1C9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516624" y="4151375"/>
            <a:ext cx="1472184" cy="27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 b="1" dirty="0">
                <a:solidFill>
                  <a:srgbClr val="09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</a:t>
            </a:r>
            <a:endParaRPr lang="en-US" sz="1380" dirty="0"/>
          </a:p>
        </p:txBody>
      </p:sp>
      <p:sp>
        <p:nvSpPr>
          <p:cNvPr id="29" name="Text 25"/>
          <p:cNvSpPr txBox="1"/>
          <p:nvPr/>
        </p:nvSpPr>
        <p:spPr>
          <a:xfrm>
            <a:off x="8041385" y="4151375"/>
            <a:ext cx="2734056" cy="27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Martha Rodríguez</a:t>
            </a:r>
            <a:endParaRPr lang="en-US" sz="1380" dirty="0"/>
          </a:p>
        </p:txBody>
      </p:sp>
      <p:sp>
        <p:nvSpPr>
          <p:cNvPr id="30" name="Shape 26"/>
          <p:cNvSpPr/>
          <p:nvPr/>
        </p:nvSpPr>
        <p:spPr>
          <a:xfrm>
            <a:off x="8041385" y="4445812"/>
            <a:ext cx="2734056" cy="0"/>
          </a:xfrm>
          <a:prstGeom prst="line">
            <a:avLst/>
          </a:prstGeom>
          <a:noFill/>
          <a:ln w="10953">
            <a:solidFill>
              <a:srgbClr val="A3B1C9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516624" y="4508906"/>
            <a:ext cx="1472184" cy="27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 b="1" dirty="0">
                <a:solidFill>
                  <a:srgbClr val="092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</a:t>
            </a:r>
            <a:endParaRPr lang="en-US" sz="1380" dirty="0"/>
          </a:p>
        </p:txBody>
      </p:sp>
      <p:sp>
        <p:nvSpPr>
          <p:cNvPr id="32" name="Text 28"/>
          <p:cNvSpPr txBox="1"/>
          <p:nvPr/>
        </p:nvSpPr>
        <p:spPr>
          <a:xfrm>
            <a:off x="8041385" y="4508906"/>
            <a:ext cx="2734056" cy="27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2026</a:t>
            </a:r>
            <a:endParaRPr lang="en-US" sz="1380" dirty="0"/>
          </a:p>
        </p:txBody>
      </p:sp>
      <p:sp>
        <p:nvSpPr>
          <p:cNvPr id="33" name="Shape 29"/>
          <p:cNvSpPr/>
          <p:nvPr/>
        </p:nvSpPr>
        <p:spPr>
          <a:xfrm>
            <a:off x="8041385" y="4803343"/>
            <a:ext cx="2734056" cy="0"/>
          </a:xfrm>
          <a:prstGeom prst="line">
            <a:avLst/>
          </a:prstGeom>
          <a:noFill/>
          <a:ln w="10953">
            <a:solidFill>
              <a:srgbClr val="A3B1C9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332433" y="4771796"/>
            <a:ext cx="3890771" cy="304952"/>
          </a:xfrm>
          <a:prstGeom prst="rect">
            <a:avLst/>
          </a:prstGeom>
          <a:solidFill>
            <a:srgbClr val="09235B"/>
          </a:solidFill>
          <a:ln w="14604">
            <a:solidFill>
              <a:srgbClr val="09235B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332433" y="4771796"/>
            <a:ext cx="3890771" cy="304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que contribuyen al Proyecto</a:t>
            </a:r>
            <a:endParaRPr lang="en-US" sz="1265" dirty="0"/>
          </a:p>
        </p:txBody>
      </p:sp>
      <p:sp>
        <p:nvSpPr>
          <p:cNvPr id="36" name="Shape 32"/>
          <p:cNvSpPr/>
          <p:nvPr/>
        </p:nvSpPr>
        <p:spPr>
          <a:xfrm>
            <a:off x="1332433" y="5076748"/>
            <a:ext cx="9527133" cy="694029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1907">
            <a:solidFill>
              <a:srgbClr val="09235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440743" y="5160873"/>
            <a:ext cx="1466926" cy="483717"/>
          </a:xfrm>
          <a:prstGeom prst="rect">
            <a:avLst/>
          </a:prstGeom>
          <a:solidFill>
            <a:srgbClr val="FFFFFF"/>
          </a:solidFill>
          <a:ln w="14604">
            <a:solidFill>
              <a:srgbClr val="94A3B8"/>
            </a:solidFill>
            <a:prstDash val="dash"/>
          </a:ln>
        </p:spPr>
      </p:sp>
      <p:sp>
        <p:nvSpPr>
          <p:cNvPr id="38" name="Text 34"/>
          <p:cNvSpPr txBox="1"/>
          <p:nvPr/>
        </p:nvSpPr>
        <p:spPr>
          <a:xfrm>
            <a:off x="1245073" y="5160873"/>
            <a:ext cx="1853980" cy="483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0" i="0" dirty="0">
                <a:solidFill>
                  <a:srgbClr val="212529"/>
                </a:solidFill>
                <a:effectLst/>
                <a:latin typeface="Montserrat" panose="020F0502020204030204" pitchFamily="2" charset="0"/>
              </a:rPr>
              <a:t>HISTORIA E IDENTIDAD NACIONAL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3007568" y="5160873"/>
            <a:ext cx="1466926" cy="483717"/>
          </a:xfrm>
          <a:prstGeom prst="rect">
            <a:avLst/>
          </a:prstGeom>
          <a:solidFill>
            <a:srgbClr val="FFFFFF"/>
          </a:solidFill>
          <a:ln w="14604">
            <a:solidFill>
              <a:srgbClr val="94A3B8"/>
            </a:solidFill>
            <a:prstDash val="dash"/>
          </a:ln>
        </p:spPr>
      </p:sp>
      <p:sp>
        <p:nvSpPr>
          <p:cNvPr id="40" name="Text 36"/>
          <p:cNvSpPr txBox="1"/>
          <p:nvPr/>
        </p:nvSpPr>
        <p:spPr>
          <a:xfrm>
            <a:off x="3007568" y="5160873"/>
            <a:ext cx="1466926" cy="483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0" i="0" dirty="0">
                <a:solidFill>
                  <a:srgbClr val="212529"/>
                </a:solidFill>
                <a:effectLst/>
                <a:latin typeface="Montserrat" panose="00000500000000000000" pitchFamily="2" charset="0"/>
              </a:rPr>
              <a:t>INTEGRADOR</a:t>
            </a:r>
            <a:r>
              <a:rPr lang="en-US" sz="1000" b="0" i="0" dirty="0">
                <a:solidFill>
                  <a:srgbClr val="212529"/>
                </a:solidFill>
                <a:effectLst/>
                <a:latin typeface="Montserrat" panose="00000500000000000000" pitchFamily="2" charset="0"/>
              </a:rPr>
              <a:t> II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4574392" y="5160873"/>
            <a:ext cx="1466926" cy="483717"/>
          </a:xfrm>
          <a:prstGeom prst="rect">
            <a:avLst/>
          </a:prstGeom>
          <a:solidFill>
            <a:srgbClr val="FFFFFF"/>
          </a:solidFill>
          <a:ln w="14604">
            <a:solidFill>
              <a:srgbClr val="94A3B8"/>
            </a:solidFill>
            <a:prstDash val="dash"/>
          </a:ln>
        </p:spPr>
      </p:sp>
      <p:sp>
        <p:nvSpPr>
          <p:cNvPr id="42" name="Text 38"/>
          <p:cNvSpPr txBox="1"/>
          <p:nvPr/>
        </p:nvSpPr>
        <p:spPr>
          <a:xfrm>
            <a:off x="4574392" y="5160873"/>
            <a:ext cx="1466926" cy="483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0" i="0" dirty="0">
                <a:solidFill>
                  <a:srgbClr val="212529"/>
                </a:solidFill>
                <a:effectLst/>
                <a:latin typeface="Montserrat" panose="00000500000000000000" pitchFamily="2" charset="0"/>
              </a:rPr>
              <a:t>TI EN LA </a:t>
            </a:r>
            <a:br>
              <a:rPr lang="en-US" sz="1200" b="0" i="0" dirty="0">
                <a:solidFill>
                  <a:srgbClr val="212529"/>
                </a:solidFill>
                <a:effectLst/>
                <a:latin typeface="Montserrat" panose="00000500000000000000" pitchFamily="2" charset="0"/>
              </a:rPr>
            </a:br>
            <a:r>
              <a:rPr lang="en-US" sz="1050" b="0" i="0" dirty="0">
                <a:solidFill>
                  <a:srgbClr val="212529"/>
                </a:solidFill>
                <a:effectLst/>
                <a:latin typeface="Montserrat" panose="00000500000000000000" pitchFamily="2" charset="0"/>
              </a:rPr>
              <a:t>EMPRESA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6141216" y="5160873"/>
            <a:ext cx="1466926" cy="483717"/>
          </a:xfrm>
          <a:prstGeom prst="rect">
            <a:avLst/>
          </a:prstGeom>
          <a:solidFill>
            <a:srgbClr val="FFFFFF"/>
          </a:solidFill>
          <a:ln w="14604">
            <a:solidFill>
              <a:srgbClr val="94A3B8"/>
            </a:solidFill>
            <a:prstDash val="dash"/>
          </a:ln>
        </p:spPr>
      </p:sp>
      <p:sp>
        <p:nvSpPr>
          <p:cNvPr id="44" name="Text 40"/>
          <p:cNvSpPr txBox="1"/>
          <p:nvPr/>
        </p:nvSpPr>
        <p:spPr>
          <a:xfrm>
            <a:off x="6141216" y="5160873"/>
            <a:ext cx="1466926" cy="483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0" i="0" dirty="0">
                <a:solidFill>
                  <a:srgbClr val="212529"/>
                </a:solidFill>
                <a:effectLst/>
                <a:latin typeface="Montserrat" panose="00000500000000000000" pitchFamily="2" charset="0"/>
              </a:rPr>
              <a:t>MATEMÁTICA</a:t>
            </a:r>
            <a:r>
              <a:rPr lang="en-US" sz="1200" b="0" i="0" dirty="0">
                <a:solidFill>
                  <a:srgbClr val="212529"/>
                </a:solidFill>
                <a:effectLst/>
                <a:latin typeface="Montserrat" panose="00000500000000000000" pitchFamily="2" charset="0"/>
              </a:rPr>
              <a:t> DISCRETA</a:t>
            </a:r>
            <a:endParaRPr lang="en-US" sz="1150" dirty="0"/>
          </a:p>
        </p:txBody>
      </p:sp>
      <p:sp>
        <p:nvSpPr>
          <p:cNvPr id="45" name="Shape 41"/>
          <p:cNvSpPr/>
          <p:nvPr/>
        </p:nvSpPr>
        <p:spPr>
          <a:xfrm>
            <a:off x="7708041" y="5160873"/>
            <a:ext cx="1466926" cy="483717"/>
          </a:xfrm>
          <a:prstGeom prst="rect">
            <a:avLst/>
          </a:prstGeom>
          <a:solidFill>
            <a:srgbClr val="FFFFFF"/>
          </a:solidFill>
          <a:ln w="14604">
            <a:solidFill>
              <a:srgbClr val="94A3B8"/>
            </a:solidFill>
            <a:prstDash val="dash"/>
          </a:ln>
        </p:spPr>
      </p:sp>
      <p:sp>
        <p:nvSpPr>
          <p:cNvPr id="46" name="Text 42"/>
          <p:cNvSpPr txBox="1"/>
          <p:nvPr/>
        </p:nvSpPr>
        <p:spPr>
          <a:xfrm>
            <a:off x="7675957" y="5160873"/>
            <a:ext cx="1466926" cy="483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0" i="0" dirty="0">
                <a:solidFill>
                  <a:srgbClr val="212529"/>
                </a:solidFill>
                <a:effectLst/>
                <a:latin typeface="Montserrat" panose="00000500000000000000" pitchFamily="2" charset="0"/>
              </a:rPr>
              <a:t>PROGRAMACIÓN</a:t>
            </a:r>
            <a:r>
              <a:rPr lang="en-US" sz="1200" b="0" i="0" dirty="0">
                <a:solidFill>
                  <a:srgbClr val="212529"/>
                </a:solidFill>
                <a:effectLst/>
                <a:latin typeface="Montserrat" panose="00000500000000000000" pitchFamily="2" charset="0"/>
              </a:rPr>
              <a:t> ESTRUCTURADA</a:t>
            </a:r>
            <a:endParaRPr lang="en-US" sz="1150" dirty="0"/>
          </a:p>
        </p:txBody>
      </p:sp>
      <p:sp>
        <p:nvSpPr>
          <p:cNvPr id="49" name="Shape 45"/>
          <p:cNvSpPr/>
          <p:nvPr/>
        </p:nvSpPr>
        <p:spPr>
          <a:xfrm>
            <a:off x="838200" y="5823356"/>
            <a:ext cx="10515600" cy="31546"/>
          </a:xfrm>
          <a:prstGeom prst="rect">
            <a:avLst/>
          </a:prstGeom>
          <a:solidFill>
            <a:srgbClr val="E3B23C"/>
          </a:solidFill>
          <a:ln w="14604">
            <a:solidFill>
              <a:srgbClr val="E3B23C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838200" y="5854903"/>
            <a:ext cx="10515600" cy="425881"/>
          </a:xfrm>
          <a:prstGeom prst="rect">
            <a:avLst/>
          </a:prstGeom>
          <a:solidFill>
            <a:srgbClr val="09235B"/>
          </a:solidFill>
          <a:ln w="14604">
            <a:solidFill>
              <a:srgbClr val="09235B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1332433" y="5854903"/>
            <a:ext cx="1261872" cy="425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3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14</a:t>
            </a:r>
            <a:endParaRPr lang="en-US" sz="1380" dirty="0"/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319941F7-3B61-4F60-BC80-585D2CC82759}"/>
              </a:ext>
            </a:extLst>
          </p:cNvPr>
          <p:cNvSpPr txBox="1"/>
          <p:nvPr/>
        </p:nvSpPr>
        <p:spPr>
          <a:xfrm>
            <a:off x="8057159" y="3772815"/>
            <a:ext cx="2734056" cy="27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69136" y="765352"/>
            <a:ext cx="9253728" cy="71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40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exposición</a:t>
            </a:r>
            <a:endParaRPr lang="en-US" sz="4140" dirty="0"/>
          </a:p>
        </p:txBody>
      </p:sp>
      <p:sp>
        <p:nvSpPr>
          <p:cNvPr id="3" name="Shape 1"/>
          <p:cNvSpPr/>
          <p:nvPr/>
        </p:nvSpPr>
        <p:spPr>
          <a:xfrm>
            <a:off x="1469136" y="1837944"/>
            <a:ext cx="3049523" cy="105156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8416" y="2100834"/>
            <a:ext cx="525780" cy="525780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58416" y="2100834"/>
            <a:ext cx="5257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3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39" dirty="0"/>
          </a:p>
        </p:txBody>
      </p:sp>
      <p:sp>
        <p:nvSpPr>
          <p:cNvPr id="6" name="Text 4"/>
          <p:cNvSpPr txBox="1"/>
          <p:nvPr/>
        </p:nvSpPr>
        <p:spPr>
          <a:xfrm>
            <a:off x="2362962" y="1922068"/>
            <a:ext cx="2050541" cy="88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objetivos</a:t>
            </a:r>
            <a:endParaRPr lang="en-US" sz="1609" dirty="0"/>
          </a:p>
        </p:txBody>
      </p:sp>
      <p:sp>
        <p:nvSpPr>
          <p:cNvPr id="7" name="Shape 5"/>
          <p:cNvSpPr/>
          <p:nvPr/>
        </p:nvSpPr>
        <p:spPr>
          <a:xfrm>
            <a:off x="4728972" y="1837944"/>
            <a:ext cx="3049523" cy="105156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18252" y="2100834"/>
            <a:ext cx="525780" cy="525780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18252" y="2100834"/>
            <a:ext cx="5257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3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39" dirty="0"/>
          </a:p>
        </p:txBody>
      </p:sp>
      <p:sp>
        <p:nvSpPr>
          <p:cNvPr id="10" name="Text 8"/>
          <p:cNvSpPr txBox="1"/>
          <p:nvPr/>
        </p:nvSpPr>
        <p:spPr>
          <a:xfrm>
            <a:off x="5622798" y="1922068"/>
            <a:ext cx="2050541" cy="88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de negocio y propuesta de valor</a:t>
            </a:r>
            <a:endParaRPr lang="en-US" sz="1609" dirty="0"/>
          </a:p>
        </p:txBody>
      </p:sp>
      <p:sp>
        <p:nvSpPr>
          <p:cNvPr id="11" name="Shape 9"/>
          <p:cNvSpPr/>
          <p:nvPr/>
        </p:nvSpPr>
        <p:spPr>
          <a:xfrm>
            <a:off x="7988807" y="1837944"/>
            <a:ext cx="3049523" cy="105156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78088" y="2100834"/>
            <a:ext cx="525780" cy="525780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78088" y="2100834"/>
            <a:ext cx="5257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3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39" dirty="0"/>
          </a:p>
        </p:txBody>
      </p:sp>
      <p:sp>
        <p:nvSpPr>
          <p:cNvPr id="14" name="Text 12"/>
          <p:cNvSpPr txBox="1"/>
          <p:nvPr/>
        </p:nvSpPr>
        <p:spPr>
          <a:xfrm>
            <a:off x="8882634" y="1922068"/>
            <a:ext cx="2050541" cy="88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objetivo</a:t>
            </a:r>
            <a:endParaRPr lang="en-US" sz="1609" dirty="0"/>
          </a:p>
        </p:txBody>
      </p:sp>
      <p:sp>
        <p:nvSpPr>
          <p:cNvPr id="15" name="Shape 13"/>
          <p:cNvSpPr/>
          <p:nvPr/>
        </p:nvSpPr>
        <p:spPr>
          <a:xfrm>
            <a:off x="1469136" y="3120847"/>
            <a:ext cx="3049523" cy="105156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58416" y="3383737"/>
            <a:ext cx="525780" cy="525780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58416" y="3383737"/>
            <a:ext cx="5257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3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39" dirty="0"/>
          </a:p>
        </p:txBody>
      </p:sp>
      <p:sp>
        <p:nvSpPr>
          <p:cNvPr id="18" name="Text 16"/>
          <p:cNvSpPr txBox="1"/>
          <p:nvPr/>
        </p:nvSpPr>
        <p:spPr>
          <a:xfrm>
            <a:off x="2362962" y="3204972"/>
            <a:ext cx="2050541" cy="88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Misión, visión y valores</a:t>
            </a:r>
            <a:endParaRPr lang="en-US" sz="1609" dirty="0"/>
          </a:p>
        </p:txBody>
      </p:sp>
      <p:sp>
        <p:nvSpPr>
          <p:cNvPr id="19" name="Shape 17"/>
          <p:cNvSpPr/>
          <p:nvPr/>
        </p:nvSpPr>
        <p:spPr>
          <a:xfrm>
            <a:off x="4728972" y="3120847"/>
            <a:ext cx="3049523" cy="105156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8252" y="3383737"/>
            <a:ext cx="525780" cy="525780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18252" y="3383737"/>
            <a:ext cx="5257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3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39" dirty="0"/>
          </a:p>
        </p:txBody>
      </p:sp>
      <p:sp>
        <p:nvSpPr>
          <p:cNvPr id="22" name="Text 20"/>
          <p:cNvSpPr txBox="1"/>
          <p:nvPr/>
        </p:nvSpPr>
        <p:spPr>
          <a:xfrm>
            <a:off x="5622798" y="3204972"/>
            <a:ext cx="2050541" cy="88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visual</a:t>
            </a:r>
            <a:endParaRPr lang="en-US" sz="1609" dirty="0"/>
          </a:p>
        </p:txBody>
      </p:sp>
      <p:sp>
        <p:nvSpPr>
          <p:cNvPr id="23" name="Shape 21"/>
          <p:cNvSpPr/>
          <p:nvPr/>
        </p:nvSpPr>
        <p:spPr>
          <a:xfrm>
            <a:off x="7988807" y="3120847"/>
            <a:ext cx="3049523" cy="105156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78088" y="3383737"/>
            <a:ext cx="525780" cy="525780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78088" y="3383737"/>
            <a:ext cx="5257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3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39" dirty="0"/>
          </a:p>
        </p:txBody>
      </p:sp>
      <p:sp>
        <p:nvSpPr>
          <p:cNvPr id="26" name="Text 24"/>
          <p:cNvSpPr txBox="1"/>
          <p:nvPr/>
        </p:nvSpPr>
        <p:spPr>
          <a:xfrm>
            <a:off x="8882634" y="3204972"/>
            <a:ext cx="2050541" cy="88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FODA</a:t>
            </a:r>
            <a:endParaRPr lang="en-US" sz="1609" dirty="0"/>
          </a:p>
        </p:txBody>
      </p:sp>
      <p:sp>
        <p:nvSpPr>
          <p:cNvPr id="27" name="Shape 25"/>
          <p:cNvSpPr/>
          <p:nvPr/>
        </p:nvSpPr>
        <p:spPr>
          <a:xfrm>
            <a:off x="1469136" y="4403750"/>
            <a:ext cx="3049523" cy="105156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58416" y="4666640"/>
            <a:ext cx="525780" cy="525780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658416" y="4666640"/>
            <a:ext cx="5257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3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39" dirty="0"/>
          </a:p>
        </p:txBody>
      </p:sp>
      <p:sp>
        <p:nvSpPr>
          <p:cNvPr id="30" name="Text 28"/>
          <p:cNvSpPr txBox="1"/>
          <p:nvPr/>
        </p:nvSpPr>
        <p:spPr>
          <a:xfrm>
            <a:off x="2362962" y="4487875"/>
            <a:ext cx="2050541" cy="88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 éticas e identidad nacional</a:t>
            </a:r>
            <a:endParaRPr lang="en-US" sz="1609" dirty="0"/>
          </a:p>
        </p:txBody>
      </p:sp>
      <p:sp>
        <p:nvSpPr>
          <p:cNvPr id="31" name="Shape 29"/>
          <p:cNvSpPr/>
          <p:nvPr/>
        </p:nvSpPr>
        <p:spPr>
          <a:xfrm>
            <a:off x="4728972" y="4403750"/>
            <a:ext cx="3049523" cy="105156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18252" y="4666640"/>
            <a:ext cx="525780" cy="525780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18252" y="4666640"/>
            <a:ext cx="5257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3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39" dirty="0"/>
          </a:p>
        </p:txBody>
      </p:sp>
      <p:sp>
        <p:nvSpPr>
          <p:cNvPr id="34" name="Text 32"/>
          <p:cNvSpPr txBox="1"/>
          <p:nvPr/>
        </p:nvSpPr>
        <p:spPr>
          <a:xfrm>
            <a:off x="5622798" y="4487875"/>
            <a:ext cx="2050541" cy="88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del proceso actual</a:t>
            </a:r>
            <a:endParaRPr lang="en-US" sz="1609" dirty="0"/>
          </a:p>
        </p:txBody>
      </p:sp>
      <p:sp>
        <p:nvSpPr>
          <p:cNvPr id="35" name="Shape 33"/>
          <p:cNvSpPr/>
          <p:nvPr/>
        </p:nvSpPr>
        <p:spPr>
          <a:xfrm>
            <a:off x="7988807" y="4403750"/>
            <a:ext cx="3049523" cy="105156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78088" y="4666640"/>
            <a:ext cx="525780" cy="525780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78088" y="4666640"/>
            <a:ext cx="5257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3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39" dirty="0"/>
          </a:p>
        </p:txBody>
      </p:sp>
      <p:sp>
        <p:nvSpPr>
          <p:cNvPr id="38" name="Text 36"/>
          <p:cNvSpPr txBox="1"/>
          <p:nvPr/>
        </p:nvSpPr>
        <p:spPr>
          <a:xfrm>
            <a:off x="8882634" y="4487875"/>
            <a:ext cx="2050541" cy="88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prototipo funcional</a:t>
            </a:r>
            <a:endParaRPr lang="en-US" sz="1609" dirty="0"/>
          </a:p>
        </p:txBody>
      </p:sp>
      <p:sp>
        <p:nvSpPr>
          <p:cNvPr id="39" name="Text 37"/>
          <p:cNvSpPr txBox="1"/>
          <p:nvPr/>
        </p:nvSpPr>
        <p:spPr>
          <a:xfrm>
            <a:off x="1469136" y="5749747"/>
            <a:ext cx="630935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Explora-Nicaragua · Integrador II</a:t>
            </a:r>
            <a:endParaRPr lang="en-US" sz="1265" dirty="0"/>
          </a:p>
        </p:txBody>
      </p:sp>
      <p:sp>
        <p:nvSpPr>
          <p:cNvPr id="40" name="Text 38"/>
          <p:cNvSpPr txBox="1"/>
          <p:nvPr/>
        </p:nvSpPr>
        <p:spPr>
          <a:xfrm>
            <a:off x="10091928" y="5749747"/>
            <a:ext cx="6309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6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6558" y="807415"/>
            <a:ext cx="630936" cy="630936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416558" y="807415"/>
            <a:ext cx="630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70" dirty="0"/>
          </a:p>
        </p:txBody>
      </p:sp>
      <p:sp>
        <p:nvSpPr>
          <p:cNvPr id="4" name="Text 2"/>
          <p:cNvSpPr txBox="1"/>
          <p:nvPr/>
        </p:nvSpPr>
        <p:spPr>
          <a:xfrm>
            <a:off x="2257806" y="765352"/>
            <a:ext cx="8465058" cy="71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40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objetivos</a:t>
            </a:r>
            <a:endParaRPr lang="en-US" sz="4140" dirty="0"/>
          </a:p>
        </p:txBody>
      </p:sp>
      <p:sp>
        <p:nvSpPr>
          <p:cNvPr id="5" name="Shape 3"/>
          <p:cNvSpPr/>
          <p:nvPr/>
        </p:nvSpPr>
        <p:spPr>
          <a:xfrm>
            <a:off x="1469136" y="1837944"/>
            <a:ext cx="3049523" cy="1892807"/>
          </a:xfrm>
          <a:prstGeom prst="roundRect">
            <a:avLst>
              <a:gd name="adj" fmla="val 4444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32026" y="2048255"/>
            <a:ext cx="2523744" cy="788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74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5.5 %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1732026" y="2889504"/>
            <a:ext cx="25763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valor agregado nacional aporta el turismo (2024)</a:t>
            </a:r>
            <a:endParaRPr lang="en-US" sz="1609" dirty="0"/>
          </a:p>
        </p:txBody>
      </p:sp>
      <p:sp>
        <p:nvSpPr>
          <p:cNvPr id="8" name="Shape 6"/>
          <p:cNvSpPr/>
          <p:nvPr/>
        </p:nvSpPr>
        <p:spPr>
          <a:xfrm>
            <a:off x="4728972" y="1837944"/>
            <a:ext cx="3049523" cy="1892807"/>
          </a:xfrm>
          <a:prstGeom prst="roundRect">
            <a:avLst>
              <a:gd name="adj" fmla="val 4444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91862" y="2048255"/>
            <a:ext cx="2523744" cy="788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74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~25 %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4991862" y="2889504"/>
            <a:ext cx="25763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promedio de Civitatis, según su CEO</a:t>
            </a:r>
            <a:endParaRPr lang="en-US" sz="1609" dirty="0"/>
          </a:p>
        </p:txBody>
      </p:sp>
      <p:sp>
        <p:nvSpPr>
          <p:cNvPr id="11" name="Shape 9"/>
          <p:cNvSpPr/>
          <p:nvPr/>
        </p:nvSpPr>
        <p:spPr>
          <a:xfrm>
            <a:off x="7988807" y="1837944"/>
            <a:ext cx="3049523" cy="1892807"/>
          </a:xfrm>
          <a:prstGeom prst="roundRect">
            <a:avLst>
              <a:gd name="adj" fmla="val 4444"/>
            </a:avLst>
          </a:prstGeom>
          <a:solidFill>
            <a:srgbClr val="173861"/>
          </a:solidFill>
          <a:ln w="14604">
            <a:solidFill>
              <a:srgbClr val="1738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51697" y="2048255"/>
            <a:ext cx="2523744" cy="788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D2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8251697" y="2889504"/>
            <a:ext cx="25763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propuesta por Explora-Nicaragua</a:t>
            </a:r>
            <a:endParaRPr lang="en-US" sz="1609" dirty="0"/>
          </a:p>
        </p:txBody>
      </p:sp>
      <p:sp>
        <p:nvSpPr>
          <p:cNvPr id="14" name="Text 12"/>
          <p:cNvSpPr txBox="1"/>
          <p:nvPr/>
        </p:nvSpPr>
        <p:spPr>
          <a:xfrm>
            <a:off x="1469136" y="4046219"/>
            <a:ext cx="9253728" cy="946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el diagnóstico del proyecto, la digitalización de la oferta turística nicaragüense es incipiente: los operadores gestionan tours por WhatsApp, hojas de cálculo y libretas, y dependen de plataformas extranjeras con comisiones elevadas.</a:t>
            </a:r>
            <a:endParaRPr lang="en-US" sz="1609" dirty="0"/>
          </a:p>
        </p:txBody>
      </p:sp>
      <p:sp>
        <p:nvSpPr>
          <p:cNvPr id="15" name="Text 13"/>
          <p:cNvSpPr txBox="1"/>
          <p:nvPr/>
        </p:nvSpPr>
        <p:spPr>
          <a:xfrm>
            <a:off x="1469136" y="4887468"/>
            <a:ext cx="92537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Explora-Nicaragua prevé tres aplicaciones sobre una API REST común; este prototipo desarrolla las dos de escritorio.</a:t>
            </a:r>
            <a:endParaRPr lang="en-US" sz="1609" dirty="0"/>
          </a:p>
        </p:txBody>
      </p:sp>
      <p:sp>
        <p:nvSpPr>
          <p:cNvPr id="16" name="Text 14"/>
          <p:cNvSpPr txBox="1"/>
          <p:nvPr/>
        </p:nvSpPr>
        <p:spPr>
          <a:xfrm>
            <a:off x="1469136" y="5497372"/>
            <a:ext cx="9253728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Banco Central de Nicaragua, Cuenta Satélite de Turismo 2024; Forbes Argentina, entrevista con Alberto Gutiérrez (CEO de Civitatis).</a:t>
            </a:r>
            <a:endParaRPr lang="en-US" sz="1265" dirty="0"/>
          </a:p>
        </p:txBody>
      </p:sp>
      <p:sp>
        <p:nvSpPr>
          <p:cNvPr id="17" name="Text 15"/>
          <p:cNvSpPr txBox="1"/>
          <p:nvPr/>
        </p:nvSpPr>
        <p:spPr>
          <a:xfrm>
            <a:off x="1469136" y="5749747"/>
            <a:ext cx="630935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Explora-Nicaragua · Integrador II</a:t>
            </a:r>
            <a:endParaRPr lang="en-US" sz="1265" dirty="0"/>
          </a:p>
        </p:txBody>
      </p:sp>
      <p:sp>
        <p:nvSpPr>
          <p:cNvPr id="18" name="Text 16"/>
          <p:cNvSpPr txBox="1"/>
          <p:nvPr/>
        </p:nvSpPr>
        <p:spPr>
          <a:xfrm>
            <a:off x="10091928" y="5749747"/>
            <a:ext cx="6309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6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6558" y="807415"/>
            <a:ext cx="630936" cy="630936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416558" y="807415"/>
            <a:ext cx="630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70" dirty="0"/>
          </a:p>
        </p:txBody>
      </p:sp>
      <p:sp>
        <p:nvSpPr>
          <p:cNvPr id="4" name="Text 2"/>
          <p:cNvSpPr txBox="1"/>
          <p:nvPr/>
        </p:nvSpPr>
        <p:spPr>
          <a:xfrm>
            <a:off x="2257806" y="765352"/>
            <a:ext cx="8465058" cy="71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40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4140" dirty="0"/>
          </a:p>
        </p:txBody>
      </p:sp>
      <p:sp>
        <p:nvSpPr>
          <p:cNvPr id="5" name="Shape 3"/>
          <p:cNvSpPr/>
          <p:nvPr/>
        </p:nvSpPr>
        <p:spPr>
          <a:xfrm>
            <a:off x="1469136" y="1837944"/>
            <a:ext cx="3785615" cy="3680459"/>
          </a:xfrm>
          <a:prstGeom prst="roundRect">
            <a:avLst>
              <a:gd name="adj" fmla="val 2286"/>
            </a:avLst>
          </a:prstGeom>
          <a:solidFill>
            <a:srgbClr val="173861"/>
          </a:solidFill>
          <a:ln w="14604">
            <a:solidFill>
              <a:srgbClr val="1738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4604" y="2100834"/>
            <a:ext cx="3154679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609" dirty="0">
              <a:solidFill>
                <a:srgbClr val="FFFF00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784604" y="2574036"/>
            <a:ext cx="3154679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39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el prototipo funcional de las aplicaciones de escritorio de Explora-Nicaragua, con un backoffice para operadores y un panel de administración sobre una API REST común.</a:t>
            </a:r>
            <a:endParaRPr lang="en-US" sz="1839" dirty="0"/>
          </a:p>
        </p:txBody>
      </p:sp>
      <p:sp>
        <p:nvSpPr>
          <p:cNvPr id="8" name="Shape 6"/>
          <p:cNvSpPr/>
          <p:nvPr/>
        </p:nvSpPr>
        <p:spPr>
          <a:xfrm>
            <a:off x="5675376" y="1964131"/>
            <a:ext cx="473201" cy="473201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75376" y="1964131"/>
            <a:ext cx="473201" cy="473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9" dirty="0"/>
          </a:p>
        </p:txBody>
      </p:sp>
      <p:sp>
        <p:nvSpPr>
          <p:cNvPr id="10" name="Text 8"/>
          <p:cNvSpPr txBox="1"/>
          <p:nvPr/>
        </p:nvSpPr>
        <p:spPr>
          <a:xfrm>
            <a:off x="6358890" y="1837944"/>
            <a:ext cx="4363974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la oferta turística y las tendencias tecnológicas</a:t>
            </a:r>
            <a:endParaRPr lang="en-US" sz="1609" dirty="0"/>
          </a:p>
        </p:txBody>
      </p:sp>
      <p:sp>
        <p:nvSpPr>
          <p:cNvPr id="11" name="Shape 9"/>
          <p:cNvSpPr/>
          <p:nvPr/>
        </p:nvSpPr>
        <p:spPr>
          <a:xfrm>
            <a:off x="5675376" y="2721254"/>
            <a:ext cx="473201" cy="473201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75376" y="2721254"/>
            <a:ext cx="473201" cy="473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9" dirty="0"/>
          </a:p>
        </p:txBody>
      </p:sp>
      <p:sp>
        <p:nvSpPr>
          <p:cNvPr id="13" name="Text 11"/>
          <p:cNvSpPr txBox="1"/>
          <p:nvPr/>
        </p:nvSpPr>
        <p:spPr>
          <a:xfrm>
            <a:off x="6358890" y="2595067"/>
            <a:ext cx="4363974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 el emprendimiento digital y su propuesta de valor</a:t>
            </a:r>
            <a:endParaRPr lang="en-US" sz="1609" dirty="0"/>
          </a:p>
        </p:txBody>
      </p:sp>
      <p:sp>
        <p:nvSpPr>
          <p:cNvPr id="14" name="Shape 12"/>
          <p:cNvSpPr/>
          <p:nvPr/>
        </p:nvSpPr>
        <p:spPr>
          <a:xfrm>
            <a:off x="5675376" y="3478377"/>
            <a:ext cx="473201" cy="473201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75376" y="3478377"/>
            <a:ext cx="473201" cy="473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9" dirty="0"/>
          </a:p>
        </p:txBody>
      </p:sp>
      <p:sp>
        <p:nvSpPr>
          <p:cNvPr id="16" name="Text 14"/>
          <p:cNvSpPr txBox="1"/>
          <p:nvPr/>
        </p:nvSpPr>
        <p:spPr>
          <a:xfrm>
            <a:off x="6358890" y="3352190"/>
            <a:ext cx="4363974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el proceso de reserva en BPMN, actual y propuesto</a:t>
            </a:r>
            <a:endParaRPr lang="en-US" sz="1609" dirty="0"/>
          </a:p>
        </p:txBody>
      </p:sp>
      <p:sp>
        <p:nvSpPr>
          <p:cNvPr id="17" name="Shape 15"/>
          <p:cNvSpPr/>
          <p:nvPr/>
        </p:nvSpPr>
        <p:spPr>
          <a:xfrm>
            <a:off x="5675376" y="4235500"/>
            <a:ext cx="473201" cy="473201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75376" y="4235500"/>
            <a:ext cx="473201" cy="473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9" dirty="0"/>
          </a:p>
        </p:txBody>
      </p:sp>
      <p:sp>
        <p:nvSpPr>
          <p:cNvPr id="19" name="Text 17"/>
          <p:cNvSpPr txBox="1"/>
          <p:nvPr/>
        </p:nvSpPr>
        <p:spPr>
          <a:xfrm>
            <a:off x="6358890" y="4109313"/>
            <a:ext cx="4363974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arquitectura, el modelo de datos y las interfaces</a:t>
            </a:r>
            <a:endParaRPr lang="en-US" sz="1609" dirty="0"/>
          </a:p>
        </p:txBody>
      </p:sp>
      <p:sp>
        <p:nvSpPr>
          <p:cNvPr id="20" name="Shape 18"/>
          <p:cNvSpPr/>
          <p:nvPr/>
        </p:nvSpPr>
        <p:spPr>
          <a:xfrm>
            <a:off x="5675376" y="4992624"/>
            <a:ext cx="473201" cy="473201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75376" y="4992624"/>
            <a:ext cx="473201" cy="473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9" dirty="0"/>
          </a:p>
        </p:txBody>
      </p:sp>
      <p:sp>
        <p:nvSpPr>
          <p:cNvPr id="22" name="Text 20"/>
          <p:cNvSpPr txBox="1"/>
          <p:nvPr/>
        </p:nvSpPr>
        <p:spPr>
          <a:xfrm>
            <a:off x="6358890" y="4866436"/>
            <a:ext cx="4363974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y validar el prototipo de escritorio</a:t>
            </a:r>
            <a:endParaRPr lang="en-US" sz="1609" dirty="0"/>
          </a:p>
        </p:txBody>
      </p:sp>
      <p:sp>
        <p:nvSpPr>
          <p:cNvPr id="23" name="Text 21"/>
          <p:cNvSpPr txBox="1"/>
          <p:nvPr/>
        </p:nvSpPr>
        <p:spPr>
          <a:xfrm>
            <a:off x="1469136" y="5749747"/>
            <a:ext cx="630935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Explora-Nicaragua · Integrador II</a:t>
            </a:r>
            <a:endParaRPr lang="en-US" sz="1265" dirty="0"/>
          </a:p>
        </p:txBody>
      </p:sp>
      <p:sp>
        <p:nvSpPr>
          <p:cNvPr id="24" name="Text 22"/>
          <p:cNvSpPr txBox="1"/>
          <p:nvPr/>
        </p:nvSpPr>
        <p:spPr>
          <a:xfrm>
            <a:off x="10091928" y="5749747"/>
            <a:ext cx="6309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6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6558" y="807415"/>
            <a:ext cx="630936" cy="630936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416558" y="807415"/>
            <a:ext cx="630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70" dirty="0"/>
          </a:p>
        </p:txBody>
      </p:sp>
      <p:sp>
        <p:nvSpPr>
          <p:cNvPr id="4" name="Text 2"/>
          <p:cNvSpPr txBox="1"/>
          <p:nvPr/>
        </p:nvSpPr>
        <p:spPr>
          <a:xfrm>
            <a:off x="2257806" y="765352"/>
            <a:ext cx="8465058" cy="71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40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de negocio</a:t>
            </a:r>
            <a:endParaRPr lang="en-US" sz="4140" dirty="0"/>
          </a:p>
        </p:txBody>
      </p:sp>
      <p:sp>
        <p:nvSpPr>
          <p:cNvPr id="5" name="Text 3"/>
          <p:cNvSpPr txBox="1"/>
          <p:nvPr/>
        </p:nvSpPr>
        <p:spPr>
          <a:xfrm>
            <a:off x="1469136" y="1837944"/>
            <a:ext cx="4626864" cy="99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marketplace digital nicaragüense que conecta turistas con operadores locales para promocionar, comparar y reservar tours en todo el país.</a:t>
            </a:r>
            <a:endParaRPr lang="en-US" sz="1609" dirty="0"/>
          </a:p>
        </p:txBody>
      </p:sp>
      <p:sp>
        <p:nvSpPr>
          <p:cNvPr id="6" name="Text 4"/>
          <p:cNvSpPr txBox="1"/>
          <p:nvPr/>
        </p:nvSpPr>
        <p:spPr>
          <a:xfrm>
            <a:off x="1469136" y="3047238"/>
            <a:ext cx="462686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por reserva</a:t>
            </a:r>
            <a:endParaRPr lang="en-US" sz="1609" dirty="0"/>
          </a:p>
        </p:txBody>
      </p:sp>
      <p:sp>
        <p:nvSpPr>
          <p:cNvPr id="7" name="Text 5"/>
          <p:cNvSpPr txBox="1"/>
          <p:nvPr/>
        </p:nvSpPr>
        <p:spPr>
          <a:xfrm>
            <a:off x="1469136" y="3467861"/>
            <a:ext cx="462686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Civitatis (plataforma extranjera): ~25 %</a:t>
            </a:r>
            <a:endParaRPr lang="en-US" sz="1609" dirty="0"/>
          </a:p>
        </p:txBody>
      </p:sp>
      <p:sp>
        <p:nvSpPr>
          <p:cNvPr id="8" name="Shape 6"/>
          <p:cNvSpPr/>
          <p:nvPr/>
        </p:nvSpPr>
        <p:spPr>
          <a:xfrm>
            <a:off x="1469136" y="3804361"/>
            <a:ext cx="4206240" cy="378561"/>
          </a:xfrm>
          <a:prstGeom prst="rect">
            <a:avLst/>
          </a:prstGeom>
          <a:solidFill>
            <a:srgbClr val="94A3B8"/>
          </a:solidFill>
          <a:ln w="14604">
            <a:solidFill>
              <a:srgbClr val="94A3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69136" y="4361688"/>
            <a:ext cx="462686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b="1" dirty="0">
                <a:solidFill>
                  <a:srgbClr val="174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Explora-Nicaragua: 8 %</a:t>
            </a:r>
            <a:endParaRPr lang="en-US" sz="1609" dirty="0"/>
          </a:p>
        </p:txBody>
      </p:sp>
      <p:sp>
        <p:nvSpPr>
          <p:cNvPr id="10" name="Shape 8"/>
          <p:cNvSpPr/>
          <p:nvPr/>
        </p:nvSpPr>
        <p:spPr>
          <a:xfrm>
            <a:off x="1469136" y="4698187"/>
            <a:ext cx="1345996" cy="378561"/>
          </a:xfrm>
          <a:prstGeom prst="rect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16624" y="1837944"/>
            <a:ext cx="4206240" cy="820216"/>
          </a:xfrm>
          <a:prstGeom prst="roundRect">
            <a:avLst>
              <a:gd name="adj" fmla="val 10256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6936" y="1837944"/>
            <a:ext cx="3838193" cy="820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reducida</a:t>
            </a:r>
            <a:endParaRPr lang="en-US" sz="1609" dirty="0"/>
          </a:p>
          <a:p>
            <a:pPr marL="0" indent="0">
              <a:buNone/>
            </a:pPr>
            <a:r>
              <a:rPr lang="en-US" sz="1494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 por reserva, frente a una comisión promedio de ~25 % de Civitatis</a:t>
            </a:r>
            <a:endParaRPr lang="en-US" sz="1609" dirty="0"/>
          </a:p>
        </p:txBody>
      </p:sp>
      <p:sp>
        <p:nvSpPr>
          <p:cNvPr id="13" name="Shape 11"/>
          <p:cNvSpPr/>
          <p:nvPr/>
        </p:nvSpPr>
        <p:spPr>
          <a:xfrm>
            <a:off x="6516624" y="2784348"/>
            <a:ext cx="4206240" cy="820216"/>
          </a:xfrm>
          <a:prstGeom prst="roundRect">
            <a:avLst>
              <a:gd name="adj" fmla="val 10256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6936" y="2784348"/>
            <a:ext cx="3838193" cy="820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operadores</a:t>
            </a:r>
            <a:endParaRPr lang="en-US" sz="1609" dirty="0"/>
          </a:p>
          <a:p>
            <a:pPr marL="0" indent="0">
              <a:buNone/>
            </a:pPr>
            <a:r>
              <a:rPr lang="en-US" sz="1494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documental desde el panel de administración</a:t>
            </a:r>
            <a:endParaRPr lang="en-US" sz="1609" dirty="0"/>
          </a:p>
        </p:txBody>
      </p:sp>
      <p:sp>
        <p:nvSpPr>
          <p:cNvPr id="15" name="Shape 13"/>
          <p:cNvSpPr/>
          <p:nvPr/>
        </p:nvSpPr>
        <p:spPr>
          <a:xfrm>
            <a:off x="6516624" y="3730751"/>
            <a:ext cx="4206240" cy="820216"/>
          </a:xfrm>
          <a:prstGeom prst="roundRect">
            <a:avLst>
              <a:gd name="adj" fmla="val 10256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6936" y="3730751"/>
            <a:ext cx="3838193" cy="820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verificadas</a:t>
            </a:r>
            <a:endParaRPr lang="en-US" sz="1609" dirty="0"/>
          </a:p>
          <a:p>
            <a:pPr marL="0" indent="0">
              <a:buNone/>
            </a:pPr>
            <a:r>
              <a:rPr lang="en-US" sz="1494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quien presenta el voucher completado puede opinar</a:t>
            </a:r>
            <a:endParaRPr lang="en-US" sz="1609" dirty="0"/>
          </a:p>
        </p:txBody>
      </p:sp>
      <p:sp>
        <p:nvSpPr>
          <p:cNvPr id="17" name="Shape 15"/>
          <p:cNvSpPr/>
          <p:nvPr/>
        </p:nvSpPr>
        <p:spPr>
          <a:xfrm>
            <a:off x="6516624" y="4677156"/>
            <a:ext cx="4206240" cy="820216"/>
          </a:xfrm>
          <a:prstGeom prst="roundRect">
            <a:avLst>
              <a:gd name="adj" fmla="val 10256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26936" y="4677156"/>
            <a:ext cx="3838193" cy="820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 de escritorio</a:t>
            </a:r>
            <a:endParaRPr lang="en-US" sz="1609" dirty="0"/>
          </a:p>
          <a:p>
            <a:pPr marL="0" indent="0">
              <a:buNone/>
            </a:pPr>
            <a:r>
              <a:rPr lang="en-US" sz="1494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tours y reservas sin depender de un navegador</a:t>
            </a:r>
            <a:endParaRPr lang="en-US" sz="1609" dirty="0"/>
          </a:p>
        </p:txBody>
      </p:sp>
      <p:sp>
        <p:nvSpPr>
          <p:cNvPr id="19" name="Text 17"/>
          <p:cNvSpPr txBox="1"/>
          <p:nvPr/>
        </p:nvSpPr>
        <p:spPr>
          <a:xfrm>
            <a:off x="1469136" y="5539435"/>
            <a:ext cx="4837176" cy="210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Forbes Argentina (entrevista al CEO de Civitatis).</a:t>
            </a:r>
            <a:endParaRPr lang="en-US" sz="1265" dirty="0"/>
          </a:p>
        </p:txBody>
      </p:sp>
      <p:sp>
        <p:nvSpPr>
          <p:cNvPr id="20" name="Text 18"/>
          <p:cNvSpPr txBox="1"/>
          <p:nvPr/>
        </p:nvSpPr>
        <p:spPr>
          <a:xfrm>
            <a:off x="1469136" y="5749747"/>
            <a:ext cx="630935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Explora-Nicaragua · Integrador II</a:t>
            </a:r>
            <a:endParaRPr lang="en-US" sz="1265" dirty="0"/>
          </a:p>
        </p:txBody>
      </p:sp>
      <p:sp>
        <p:nvSpPr>
          <p:cNvPr id="21" name="Text 19"/>
          <p:cNvSpPr txBox="1"/>
          <p:nvPr/>
        </p:nvSpPr>
        <p:spPr>
          <a:xfrm>
            <a:off x="10091928" y="5749747"/>
            <a:ext cx="6309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6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6558" y="807415"/>
            <a:ext cx="630936" cy="630936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416558" y="807415"/>
            <a:ext cx="630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70" dirty="0"/>
          </a:p>
        </p:txBody>
      </p:sp>
      <p:sp>
        <p:nvSpPr>
          <p:cNvPr id="4" name="Text 2"/>
          <p:cNvSpPr txBox="1"/>
          <p:nvPr/>
        </p:nvSpPr>
        <p:spPr>
          <a:xfrm>
            <a:off x="2257806" y="765352"/>
            <a:ext cx="8465058" cy="71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40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objetivo</a:t>
            </a:r>
            <a:endParaRPr lang="en-US" sz="4140" dirty="0"/>
          </a:p>
        </p:txBody>
      </p:sp>
      <p:sp>
        <p:nvSpPr>
          <p:cNvPr id="5" name="Shape 3"/>
          <p:cNvSpPr/>
          <p:nvPr/>
        </p:nvSpPr>
        <p:spPr>
          <a:xfrm>
            <a:off x="1469136" y="1837944"/>
            <a:ext cx="4416552" cy="3049523"/>
          </a:xfrm>
          <a:prstGeom prst="roundRect">
            <a:avLst>
              <a:gd name="adj" fmla="val 2759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84604" y="2100834"/>
            <a:ext cx="630936" cy="630936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84604" y="2100834"/>
            <a:ext cx="630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70" dirty="0"/>
          </a:p>
        </p:txBody>
      </p:sp>
      <p:sp>
        <p:nvSpPr>
          <p:cNvPr id="8" name="Text 6"/>
          <p:cNvSpPr txBox="1"/>
          <p:nvPr/>
        </p:nvSpPr>
        <p:spPr>
          <a:xfrm>
            <a:off x="1784604" y="2942082"/>
            <a:ext cx="3785615" cy="47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70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Turistas (demanda)</a:t>
            </a:r>
            <a:endParaRPr lang="en-US" sz="2070" dirty="0"/>
          </a:p>
        </p:txBody>
      </p:sp>
      <p:sp>
        <p:nvSpPr>
          <p:cNvPr id="9" name="Text 7"/>
          <p:cNvSpPr txBox="1"/>
          <p:nvPr/>
        </p:nvSpPr>
        <p:spPr>
          <a:xfrm>
            <a:off x="1784604" y="3467861"/>
            <a:ext cx="3785615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Viajeros locales y extranjeros que buscan experiencias seguras y confiables, con interés en turismo de aventura, cultural y ecológico. Consumen los tours y pagan la reserva.</a:t>
            </a:r>
            <a:endParaRPr lang="en-US" sz="1609" dirty="0"/>
          </a:p>
        </p:txBody>
      </p:sp>
      <p:sp>
        <p:nvSpPr>
          <p:cNvPr id="10" name="Shape 8"/>
          <p:cNvSpPr/>
          <p:nvPr/>
        </p:nvSpPr>
        <p:spPr>
          <a:xfrm>
            <a:off x="6306312" y="1837944"/>
            <a:ext cx="4416552" cy="3049523"/>
          </a:xfrm>
          <a:prstGeom prst="roundRect">
            <a:avLst>
              <a:gd name="adj" fmla="val 2759"/>
            </a:avLst>
          </a:prstGeom>
          <a:solidFill>
            <a:srgbClr val="173861"/>
          </a:solidFill>
          <a:ln w="14604">
            <a:solidFill>
              <a:srgbClr val="1738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1780" y="2100834"/>
            <a:ext cx="630936" cy="630936"/>
          </a:xfrm>
          <a:prstGeom prst="ellipse">
            <a:avLst/>
          </a:prstGeom>
          <a:solidFill>
            <a:srgbClr val="D2E4FF"/>
          </a:solidFill>
          <a:ln w="14604">
            <a:solidFill>
              <a:srgbClr val="D2E4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1780" y="2100834"/>
            <a:ext cx="630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70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70" dirty="0"/>
          </a:p>
        </p:txBody>
      </p:sp>
      <p:sp>
        <p:nvSpPr>
          <p:cNvPr id="13" name="Text 11"/>
          <p:cNvSpPr txBox="1"/>
          <p:nvPr/>
        </p:nvSpPr>
        <p:spPr>
          <a:xfrm>
            <a:off x="6621780" y="2942082"/>
            <a:ext cx="3785615" cy="47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turísticos (clientes)</a:t>
            </a:r>
            <a:endParaRPr lang="en-US" sz="2070" dirty="0"/>
          </a:p>
        </p:txBody>
      </p:sp>
      <p:sp>
        <p:nvSpPr>
          <p:cNvPr id="14" name="Text 12"/>
          <p:cNvSpPr txBox="1"/>
          <p:nvPr/>
        </p:nvSpPr>
        <p:spPr>
          <a:xfrm>
            <a:off x="6621780" y="3467861"/>
            <a:ext cx="3785615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dirty="0">
                <a:solidFill>
                  <a:srgbClr val="D2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Agencias de viajes, guías independientes y cooperativas comunitarias con presencia digital limitada. Usan la plataforma para publicar y vender sus tours, y pagan la comisión del 8 % por reserva.</a:t>
            </a:r>
            <a:endParaRPr lang="en-US" sz="1609" dirty="0"/>
          </a:p>
        </p:txBody>
      </p:sp>
      <p:sp>
        <p:nvSpPr>
          <p:cNvPr id="15" name="Text 13"/>
          <p:cNvSpPr txBox="1"/>
          <p:nvPr/>
        </p:nvSpPr>
        <p:spPr>
          <a:xfrm>
            <a:off x="1469136" y="5097780"/>
            <a:ext cx="925372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prototipo, los operadores son los usuarios directos; el turista se atiende en la app móvil como trabajo futuro.</a:t>
            </a:r>
            <a:endParaRPr lang="en-US" sz="1380" dirty="0"/>
          </a:p>
        </p:txBody>
      </p:sp>
      <p:sp>
        <p:nvSpPr>
          <p:cNvPr id="16" name="Text 14"/>
          <p:cNvSpPr txBox="1"/>
          <p:nvPr/>
        </p:nvSpPr>
        <p:spPr>
          <a:xfrm>
            <a:off x="1469136" y="5749747"/>
            <a:ext cx="630935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Explora-Nicaragua · Integrador II</a:t>
            </a:r>
            <a:endParaRPr lang="en-US" sz="1265" dirty="0"/>
          </a:p>
        </p:txBody>
      </p:sp>
      <p:sp>
        <p:nvSpPr>
          <p:cNvPr id="17" name="Text 15"/>
          <p:cNvSpPr txBox="1"/>
          <p:nvPr/>
        </p:nvSpPr>
        <p:spPr>
          <a:xfrm>
            <a:off x="10091928" y="5749747"/>
            <a:ext cx="6309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6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6558" y="807415"/>
            <a:ext cx="630936" cy="630936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416558" y="807415"/>
            <a:ext cx="630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70" dirty="0"/>
          </a:p>
        </p:txBody>
      </p:sp>
      <p:sp>
        <p:nvSpPr>
          <p:cNvPr id="4" name="Text 2"/>
          <p:cNvSpPr txBox="1"/>
          <p:nvPr/>
        </p:nvSpPr>
        <p:spPr>
          <a:xfrm>
            <a:off x="2257806" y="765352"/>
            <a:ext cx="8465058" cy="71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40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Misión, visión y valores</a:t>
            </a:r>
            <a:endParaRPr lang="en-US" sz="4140" dirty="0"/>
          </a:p>
        </p:txBody>
      </p:sp>
      <p:sp>
        <p:nvSpPr>
          <p:cNvPr id="5" name="Shape 3"/>
          <p:cNvSpPr/>
          <p:nvPr/>
        </p:nvSpPr>
        <p:spPr>
          <a:xfrm>
            <a:off x="1469136" y="1837944"/>
            <a:ext cx="4521708" cy="2050541"/>
          </a:xfrm>
          <a:prstGeom prst="roundRect">
            <a:avLst>
              <a:gd name="adj" fmla="val 4103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32026" y="1995677"/>
            <a:ext cx="3995927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70" b="1" dirty="0">
                <a:solidFill>
                  <a:srgbClr val="174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</a:t>
            </a:r>
            <a:endParaRPr lang="en-US" sz="2070" dirty="0"/>
          </a:p>
        </p:txBody>
      </p:sp>
      <p:sp>
        <p:nvSpPr>
          <p:cNvPr id="7" name="Text 5"/>
          <p:cNvSpPr txBox="1"/>
          <p:nvPr/>
        </p:nvSpPr>
        <p:spPr>
          <a:xfrm>
            <a:off x="1732026" y="2416302"/>
            <a:ext cx="4048505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a turistas con los mejores operadores de Nicaragua mediante una plataforma segura, confiable y accesible, con comisiones justas para los proveedores locales.</a:t>
            </a:r>
            <a:endParaRPr lang="en-US" sz="1609" dirty="0"/>
          </a:p>
        </p:txBody>
      </p:sp>
      <p:sp>
        <p:nvSpPr>
          <p:cNvPr id="8" name="Shape 6"/>
          <p:cNvSpPr/>
          <p:nvPr/>
        </p:nvSpPr>
        <p:spPr>
          <a:xfrm>
            <a:off x="6201156" y="1837944"/>
            <a:ext cx="4521708" cy="2050541"/>
          </a:xfrm>
          <a:prstGeom prst="roundRect">
            <a:avLst>
              <a:gd name="adj" fmla="val 4103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64046" y="1995677"/>
            <a:ext cx="3995927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70" b="1" dirty="0">
                <a:solidFill>
                  <a:srgbClr val="174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2070" dirty="0"/>
          </a:p>
        </p:txBody>
      </p:sp>
      <p:sp>
        <p:nvSpPr>
          <p:cNvPr id="10" name="Text 8"/>
          <p:cNvSpPr txBox="1"/>
          <p:nvPr/>
        </p:nvSpPr>
        <p:spPr>
          <a:xfrm>
            <a:off x="6464046" y="2416302"/>
            <a:ext cx="4048505" cy="136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el marketplace turístico líder en Nicaragua y Centroamérica, reconocido por la calidad de su verificación y la confianza de sus usuarios.</a:t>
            </a:r>
            <a:endParaRPr lang="en-US" sz="1609" dirty="0"/>
          </a:p>
        </p:txBody>
      </p:sp>
      <p:sp>
        <p:nvSpPr>
          <p:cNvPr id="11" name="Text 9"/>
          <p:cNvSpPr txBox="1"/>
          <p:nvPr/>
        </p:nvSpPr>
        <p:spPr>
          <a:xfrm>
            <a:off x="1469136" y="4151375"/>
            <a:ext cx="420624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70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</a:t>
            </a:r>
            <a:endParaRPr lang="en-US" sz="2070" dirty="0"/>
          </a:p>
        </p:txBody>
      </p:sp>
      <p:sp>
        <p:nvSpPr>
          <p:cNvPr id="12" name="Shape 10"/>
          <p:cNvSpPr/>
          <p:nvPr/>
        </p:nvSpPr>
        <p:spPr>
          <a:xfrm>
            <a:off x="1469136" y="4624578"/>
            <a:ext cx="1724558" cy="8938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8256">
            <a:solidFill>
              <a:srgbClr val="1744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3260" y="4624578"/>
            <a:ext cx="1556308" cy="89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9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endParaRPr lang="en-US" sz="1609" dirty="0"/>
          </a:p>
        </p:txBody>
      </p:sp>
      <p:sp>
        <p:nvSpPr>
          <p:cNvPr id="14" name="Shape 12"/>
          <p:cNvSpPr/>
          <p:nvPr/>
        </p:nvSpPr>
        <p:spPr>
          <a:xfrm>
            <a:off x="3351428" y="4624578"/>
            <a:ext cx="1724558" cy="8938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8256">
            <a:solidFill>
              <a:srgbClr val="17447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35553" y="4624578"/>
            <a:ext cx="1556308" cy="89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9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Equidad</a:t>
            </a:r>
            <a:endParaRPr lang="en-US" sz="1609" dirty="0"/>
          </a:p>
        </p:txBody>
      </p:sp>
      <p:sp>
        <p:nvSpPr>
          <p:cNvPr id="16" name="Shape 14"/>
          <p:cNvSpPr/>
          <p:nvPr/>
        </p:nvSpPr>
        <p:spPr>
          <a:xfrm>
            <a:off x="5233720" y="4624578"/>
            <a:ext cx="1724558" cy="8938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8256">
            <a:solidFill>
              <a:srgbClr val="17447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17845" y="4624578"/>
            <a:ext cx="1556308" cy="89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9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n-US" sz="1609" dirty="0"/>
          </a:p>
        </p:txBody>
      </p:sp>
      <p:sp>
        <p:nvSpPr>
          <p:cNvPr id="18" name="Shape 16"/>
          <p:cNvSpPr/>
          <p:nvPr/>
        </p:nvSpPr>
        <p:spPr>
          <a:xfrm>
            <a:off x="7116013" y="4624578"/>
            <a:ext cx="1724558" cy="8938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8256">
            <a:solidFill>
              <a:srgbClr val="17447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00137" y="4624578"/>
            <a:ext cx="1556308" cy="89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9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tecnológica</a:t>
            </a:r>
            <a:endParaRPr lang="en-US" sz="1609" dirty="0"/>
          </a:p>
        </p:txBody>
      </p:sp>
      <p:sp>
        <p:nvSpPr>
          <p:cNvPr id="20" name="Shape 18"/>
          <p:cNvSpPr/>
          <p:nvPr/>
        </p:nvSpPr>
        <p:spPr>
          <a:xfrm>
            <a:off x="8998305" y="4624578"/>
            <a:ext cx="1724558" cy="8938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8256">
            <a:solidFill>
              <a:srgbClr val="17447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82430" y="4624578"/>
            <a:ext cx="1556308" cy="89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9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social</a:t>
            </a:r>
            <a:endParaRPr lang="en-US" sz="1609" dirty="0"/>
          </a:p>
        </p:txBody>
      </p:sp>
      <p:sp>
        <p:nvSpPr>
          <p:cNvPr id="22" name="Text 20"/>
          <p:cNvSpPr txBox="1"/>
          <p:nvPr/>
        </p:nvSpPr>
        <p:spPr>
          <a:xfrm>
            <a:off x="1469136" y="5749747"/>
            <a:ext cx="630935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Explora-Nicaragua · Integrador II</a:t>
            </a:r>
            <a:endParaRPr lang="en-US" sz="1265" dirty="0"/>
          </a:p>
        </p:txBody>
      </p:sp>
      <p:sp>
        <p:nvSpPr>
          <p:cNvPr id="23" name="Text 21"/>
          <p:cNvSpPr txBox="1"/>
          <p:nvPr/>
        </p:nvSpPr>
        <p:spPr>
          <a:xfrm>
            <a:off x="10091928" y="5749747"/>
            <a:ext cx="6309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6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6558" y="807415"/>
            <a:ext cx="630936" cy="630936"/>
          </a:xfrm>
          <a:prstGeom prst="ellipse">
            <a:avLst/>
          </a:prstGeom>
          <a:solidFill>
            <a:srgbClr val="0067B1"/>
          </a:solidFill>
          <a:ln w="14604">
            <a:solidFill>
              <a:srgbClr val="0067B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416558" y="807415"/>
            <a:ext cx="630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70" dirty="0"/>
          </a:p>
        </p:txBody>
      </p:sp>
      <p:sp>
        <p:nvSpPr>
          <p:cNvPr id="4" name="Text 2"/>
          <p:cNvSpPr txBox="1"/>
          <p:nvPr/>
        </p:nvSpPr>
        <p:spPr>
          <a:xfrm>
            <a:off x="2257806" y="765352"/>
            <a:ext cx="8465058" cy="71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40" b="1" dirty="0">
                <a:solidFill>
                  <a:srgbClr val="00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visual</a:t>
            </a:r>
            <a:endParaRPr lang="en-US" sz="4140" dirty="0"/>
          </a:p>
        </p:txBody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136" y="1732788"/>
            <a:ext cx="3049523" cy="304952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9136" y="4887468"/>
            <a:ext cx="3049523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Logotipo de la app: cono volcánico, sol naciente y wordmark en azul primario.</a:t>
            </a:r>
            <a:endParaRPr lang="en-US" sz="1380" dirty="0"/>
          </a:p>
        </p:txBody>
      </p:sp>
      <p:sp>
        <p:nvSpPr>
          <p:cNvPr id="7" name="Text 4"/>
          <p:cNvSpPr txBox="1"/>
          <p:nvPr/>
        </p:nvSpPr>
        <p:spPr>
          <a:xfrm>
            <a:off x="4939284" y="1732788"/>
            <a:ext cx="5783580" cy="47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30" b="1" dirty="0">
                <a:solidFill>
                  <a:srgbClr val="001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- Nicaragua App</a:t>
            </a:r>
            <a:endParaRPr lang="en-US" sz="2530" dirty="0"/>
          </a:p>
        </p:txBody>
      </p:sp>
      <p:sp>
        <p:nvSpPr>
          <p:cNvPr id="8" name="Text 5"/>
          <p:cNvSpPr txBox="1"/>
          <p:nvPr/>
        </p:nvSpPr>
        <p:spPr>
          <a:xfrm>
            <a:off x="4939284" y="2258568"/>
            <a:ext cx="57835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portales: Socios (operadores), Administración (equipo interno) y Clientes (viajero).</a:t>
            </a:r>
            <a:endParaRPr lang="en-US" sz="1609" dirty="0"/>
          </a:p>
        </p:txBody>
      </p:sp>
      <p:sp>
        <p:nvSpPr>
          <p:cNvPr id="9" name="Text 6"/>
          <p:cNvSpPr txBox="1"/>
          <p:nvPr/>
        </p:nvSpPr>
        <p:spPr>
          <a:xfrm>
            <a:off x="4939284" y="2784348"/>
            <a:ext cx="57835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Tipografía: Segoe UI; cuerpo en 14 px, etiquetas en 12 px.</a:t>
            </a:r>
            <a:endParaRPr lang="en-US" sz="1609" dirty="0"/>
          </a:p>
        </p:txBody>
      </p:sp>
      <p:sp>
        <p:nvSpPr>
          <p:cNvPr id="10" name="Text 7"/>
          <p:cNvSpPr txBox="1"/>
          <p:nvPr/>
        </p:nvSpPr>
        <p:spPr>
          <a:xfrm>
            <a:off x="4939284" y="3467861"/>
            <a:ext cx="57835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principal</a:t>
            </a:r>
            <a:endParaRPr lang="en-US" sz="1609" dirty="0"/>
          </a:p>
        </p:txBody>
      </p:sp>
      <p:sp>
        <p:nvSpPr>
          <p:cNvPr id="11" name="Shape 8"/>
          <p:cNvSpPr/>
          <p:nvPr/>
        </p:nvSpPr>
        <p:spPr>
          <a:xfrm>
            <a:off x="4939284" y="3835907"/>
            <a:ext cx="525780" cy="525780"/>
          </a:xfrm>
          <a:prstGeom prst="rect">
            <a:avLst/>
          </a:prstGeom>
          <a:solidFill>
            <a:srgbClr val="0067B1"/>
          </a:solidFill>
          <a:ln w="10953">
            <a:solidFill>
              <a:srgbClr val="CBD5E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528157" y="3835907"/>
            <a:ext cx="998981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5" b="1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Primario</a:t>
            </a:r>
            <a:endParaRPr lang="en-US" sz="1265" dirty="0"/>
          </a:p>
          <a:p>
            <a:pPr marL="0" indent="0">
              <a:buNone/>
            </a:pPr>
            <a:r>
              <a:rPr lang="en-US" sz="1380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#0067B1</a:t>
            </a:r>
            <a:endParaRPr lang="en-US" sz="1265" dirty="0"/>
          </a:p>
        </p:txBody>
      </p:sp>
      <p:sp>
        <p:nvSpPr>
          <p:cNvPr id="13" name="Shape 10"/>
          <p:cNvSpPr/>
          <p:nvPr/>
        </p:nvSpPr>
        <p:spPr>
          <a:xfrm>
            <a:off x="6411468" y="3835907"/>
            <a:ext cx="525780" cy="525780"/>
          </a:xfrm>
          <a:prstGeom prst="rect">
            <a:avLst/>
          </a:prstGeom>
          <a:solidFill>
            <a:srgbClr val="D2E4FF"/>
          </a:solidFill>
          <a:ln w="10953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00341" y="3835907"/>
            <a:ext cx="998981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5" b="1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</a:t>
            </a:r>
            <a:endParaRPr lang="en-US" sz="1265" dirty="0"/>
          </a:p>
          <a:p>
            <a:pPr marL="0" indent="0">
              <a:buNone/>
            </a:pPr>
            <a:r>
              <a:rPr lang="en-US" sz="1380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#D2E4FF</a:t>
            </a:r>
            <a:endParaRPr lang="en-US" sz="1265" dirty="0"/>
          </a:p>
        </p:txBody>
      </p:sp>
      <p:sp>
        <p:nvSpPr>
          <p:cNvPr id="15" name="Shape 12"/>
          <p:cNvSpPr/>
          <p:nvPr/>
        </p:nvSpPr>
        <p:spPr>
          <a:xfrm>
            <a:off x="7883651" y="3835907"/>
            <a:ext cx="525780" cy="525780"/>
          </a:xfrm>
          <a:prstGeom prst="rect">
            <a:avLst/>
          </a:prstGeom>
          <a:solidFill>
            <a:srgbClr val="EFF4FF"/>
          </a:solidFill>
          <a:ln w="10953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72525" y="3835907"/>
            <a:ext cx="998981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5" b="1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</a:t>
            </a:r>
            <a:endParaRPr lang="en-US" sz="1265" dirty="0"/>
          </a:p>
          <a:p>
            <a:pPr marL="0" indent="0">
              <a:buNone/>
            </a:pPr>
            <a:r>
              <a:rPr lang="en-US" sz="1380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#EFF4FF</a:t>
            </a:r>
            <a:endParaRPr lang="en-US" sz="1265" dirty="0"/>
          </a:p>
        </p:txBody>
      </p:sp>
      <p:sp>
        <p:nvSpPr>
          <p:cNvPr id="17" name="Shape 14"/>
          <p:cNvSpPr/>
          <p:nvPr/>
        </p:nvSpPr>
        <p:spPr>
          <a:xfrm>
            <a:off x="9355836" y="3835907"/>
            <a:ext cx="525780" cy="525780"/>
          </a:xfrm>
          <a:prstGeom prst="rect">
            <a:avLst/>
          </a:prstGeom>
          <a:solidFill>
            <a:srgbClr val="1A1C1E"/>
          </a:solidFill>
          <a:ln w="10953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944709" y="3835907"/>
            <a:ext cx="998981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5" b="1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265" dirty="0"/>
          </a:p>
          <a:p>
            <a:pPr marL="0" indent="0">
              <a:buNone/>
            </a:pPr>
            <a:r>
              <a:rPr lang="en-US" sz="1380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#1A1C1E</a:t>
            </a:r>
            <a:endParaRPr lang="en-US" sz="1265" dirty="0"/>
          </a:p>
        </p:txBody>
      </p:sp>
      <p:sp>
        <p:nvSpPr>
          <p:cNvPr id="19" name="Text 16"/>
          <p:cNvSpPr txBox="1"/>
          <p:nvPr/>
        </p:nvSpPr>
        <p:spPr>
          <a:xfrm>
            <a:off x="4939284" y="4572000"/>
            <a:ext cx="57835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de estado</a:t>
            </a:r>
            <a:endParaRPr lang="en-US" sz="1609" dirty="0"/>
          </a:p>
        </p:txBody>
      </p:sp>
      <p:sp>
        <p:nvSpPr>
          <p:cNvPr id="20" name="Shape 17"/>
          <p:cNvSpPr/>
          <p:nvPr/>
        </p:nvSpPr>
        <p:spPr>
          <a:xfrm>
            <a:off x="4939284" y="4940046"/>
            <a:ext cx="1367028" cy="630936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4604">
            <a:solidFill>
              <a:srgbClr val="DCFCE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44440" y="4940046"/>
            <a:ext cx="11567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Éxito</a:t>
            </a:r>
            <a:endParaRPr lang="en-US" sz="1609" dirty="0"/>
          </a:p>
          <a:p>
            <a:pPr marL="0" indent="0">
              <a:buNone/>
            </a:pPr>
            <a:r>
              <a:rPr lang="en-US" sz="138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#15803D</a:t>
            </a:r>
            <a:endParaRPr lang="en-US" sz="1609" dirty="0"/>
          </a:p>
        </p:txBody>
      </p:sp>
      <p:sp>
        <p:nvSpPr>
          <p:cNvPr id="22" name="Shape 19"/>
          <p:cNvSpPr/>
          <p:nvPr/>
        </p:nvSpPr>
        <p:spPr>
          <a:xfrm>
            <a:off x="6411468" y="4940046"/>
            <a:ext cx="1367028" cy="630936"/>
          </a:xfrm>
          <a:prstGeom prst="roundRect">
            <a:avLst>
              <a:gd name="adj" fmla="val 13333"/>
            </a:avLst>
          </a:prstGeom>
          <a:solidFill>
            <a:srgbClr val="FEF9C3"/>
          </a:solidFill>
          <a:ln w="14604">
            <a:solidFill>
              <a:srgbClr val="FEF9C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16624" y="4940046"/>
            <a:ext cx="11567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1609" dirty="0"/>
          </a:p>
          <a:p>
            <a:pPr marL="0" indent="0">
              <a:buNone/>
            </a:pPr>
            <a:r>
              <a:rPr lang="en-US" sz="1380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#A16207</a:t>
            </a:r>
            <a:endParaRPr lang="en-US" sz="1609" dirty="0"/>
          </a:p>
        </p:txBody>
      </p:sp>
      <p:sp>
        <p:nvSpPr>
          <p:cNvPr id="24" name="Shape 21"/>
          <p:cNvSpPr/>
          <p:nvPr/>
        </p:nvSpPr>
        <p:spPr>
          <a:xfrm>
            <a:off x="7883651" y="4940046"/>
            <a:ext cx="1367028" cy="630936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14604">
            <a:solidFill>
              <a:srgbClr val="FEE2E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88807" y="4940046"/>
            <a:ext cx="11567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609" dirty="0"/>
          </a:p>
          <a:p>
            <a:pPr marL="0" indent="0">
              <a:buNone/>
            </a:pPr>
            <a:r>
              <a:rPr lang="en-US" sz="138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#B91C1C</a:t>
            </a:r>
            <a:endParaRPr lang="en-US" sz="1609" dirty="0"/>
          </a:p>
        </p:txBody>
      </p:sp>
      <p:sp>
        <p:nvSpPr>
          <p:cNvPr id="26" name="Shape 23"/>
          <p:cNvSpPr/>
          <p:nvPr/>
        </p:nvSpPr>
        <p:spPr>
          <a:xfrm>
            <a:off x="9355836" y="4940046"/>
            <a:ext cx="1367028" cy="630936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14604">
            <a:solidFill>
              <a:srgbClr val="E0F2F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460992" y="4940046"/>
            <a:ext cx="11567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609" dirty="0"/>
          </a:p>
          <a:p>
            <a:pPr marL="0" indent="0">
              <a:buNone/>
            </a:pPr>
            <a:r>
              <a:rPr lang="en-US" sz="138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#0369A1</a:t>
            </a:r>
            <a:endParaRPr lang="en-US" sz="1609" dirty="0"/>
          </a:p>
        </p:txBody>
      </p:sp>
      <p:sp>
        <p:nvSpPr>
          <p:cNvPr id="28" name="Text 25"/>
          <p:cNvSpPr txBox="1"/>
          <p:nvPr/>
        </p:nvSpPr>
        <p:spPr>
          <a:xfrm>
            <a:off x="1469136" y="5749747"/>
            <a:ext cx="630935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Explora-Nicaragua · Integrador II</a:t>
            </a:r>
            <a:endParaRPr lang="en-US" sz="1265" dirty="0"/>
          </a:p>
        </p:txBody>
      </p:sp>
      <p:sp>
        <p:nvSpPr>
          <p:cNvPr id="29" name="Text 26"/>
          <p:cNvSpPr txBox="1"/>
          <p:nvPr/>
        </p:nvSpPr>
        <p:spPr>
          <a:xfrm>
            <a:off x="10091928" y="5749747"/>
            <a:ext cx="6309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6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6558" y="807415"/>
            <a:ext cx="630936" cy="630936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416558" y="807415"/>
            <a:ext cx="630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70" dirty="0"/>
          </a:p>
        </p:txBody>
      </p:sp>
      <p:sp>
        <p:nvSpPr>
          <p:cNvPr id="4" name="Text 2"/>
          <p:cNvSpPr txBox="1"/>
          <p:nvPr/>
        </p:nvSpPr>
        <p:spPr>
          <a:xfrm>
            <a:off x="2257806" y="765352"/>
            <a:ext cx="8465058" cy="71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40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FODA</a:t>
            </a:r>
            <a:endParaRPr lang="en-US" sz="4140" dirty="0"/>
          </a:p>
        </p:txBody>
      </p:sp>
      <p:sp>
        <p:nvSpPr>
          <p:cNvPr id="5" name="Shape 3"/>
          <p:cNvSpPr/>
          <p:nvPr/>
        </p:nvSpPr>
        <p:spPr>
          <a:xfrm>
            <a:off x="1469136" y="1837944"/>
            <a:ext cx="4521708" cy="1735073"/>
          </a:xfrm>
          <a:prstGeom prst="roundRect">
            <a:avLst>
              <a:gd name="adj" fmla="val 4848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00479" y="1985162"/>
            <a:ext cx="4101083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70" b="1" dirty="0">
                <a:solidFill>
                  <a:srgbClr val="174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2070" dirty="0"/>
          </a:p>
        </p:txBody>
      </p:sp>
      <p:sp>
        <p:nvSpPr>
          <p:cNvPr id="7" name="Text 5"/>
          <p:cNvSpPr txBox="1"/>
          <p:nvPr/>
        </p:nvSpPr>
        <p:spPr>
          <a:xfrm>
            <a:off x="1700479" y="2416302"/>
            <a:ext cx="4101083" cy="1104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reducida (8 %) frente a ~25 % de Civitatis</a:t>
            </a:r>
            <a:endParaRPr lang="en-US" sz="1609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documental de operadores</a:t>
            </a:r>
            <a:endParaRPr lang="en-US" sz="1609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verificadas por voucher</a:t>
            </a:r>
            <a:endParaRPr lang="en-US" sz="1609" dirty="0"/>
          </a:p>
        </p:txBody>
      </p:sp>
      <p:sp>
        <p:nvSpPr>
          <p:cNvPr id="8" name="Shape 6"/>
          <p:cNvSpPr/>
          <p:nvPr/>
        </p:nvSpPr>
        <p:spPr>
          <a:xfrm>
            <a:off x="6201156" y="1837944"/>
            <a:ext cx="4521708" cy="1735073"/>
          </a:xfrm>
          <a:prstGeom prst="roundRect">
            <a:avLst>
              <a:gd name="adj" fmla="val 4848"/>
            </a:avLst>
          </a:prstGeom>
          <a:solidFill>
            <a:srgbClr val="D2E4FF"/>
          </a:solidFill>
          <a:ln w="14604">
            <a:solidFill>
              <a:srgbClr val="D2E4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32499" y="1985162"/>
            <a:ext cx="4101083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7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2070" dirty="0"/>
          </a:p>
        </p:txBody>
      </p:sp>
      <p:sp>
        <p:nvSpPr>
          <p:cNvPr id="10" name="Text 8"/>
          <p:cNvSpPr txBox="1"/>
          <p:nvPr/>
        </p:nvSpPr>
        <p:spPr>
          <a:xfrm>
            <a:off x="6432499" y="2416302"/>
            <a:ext cx="4101083" cy="1104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del turismo (5.5 % del valor agregado, 2024)</a:t>
            </a:r>
            <a:endParaRPr lang="en-US" sz="1609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creciente de reserva en línea</a:t>
            </a:r>
            <a:endParaRPr lang="en-US" sz="1609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pasarelas internacionales</a:t>
            </a:r>
            <a:endParaRPr lang="en-US" sz="1609" dirty="0"/>
          </a:p>
        </p:txBody>
      </p:sp>
      <p:sp>
        <p:nvSpPr>
          <p:cNvPr id="11" name="Shape 9"/>
          <p:cNvSpPr/>
          <p:nvPr/>
        </p:nvSpPr>
        <p:spPr>
          <a:xfrm>
            <a:off x="1469136" y="3730751"/>
            <a:ext cx="4521708" cy="1735073"/>
          </a:xfrm>
          <a:prstGeom prst="roundRect">
            <a:avLst>
              <a:gd name="adj" fmla="val 4848"/>
            </a:avLst>
          </a:prstGeom>
          <a:solidFill>
            <a:srgbClr val="FEF9C3"/>
          </a:solidFill>
          <a:ln w="14604">
            <a:solidFill>
              <a:srgbClr val="FEF9C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00479" y="3877970"/>
            <a:ext cx="4101083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70" b="1" dirty="0">
                <a:solidFill>
                  <a:srgbClr val="A3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Debilidades</a:t>
            </a:r>
            <a:endParaRPr lang="en-US" sz="2070" dirty="0"/>
          </a:p>
        </p:txBody>
      </p:sp>
      <p:sp>
        <p:nvSpPr>
          <p:cNvPr id="13" name="Text 11"/>
          <p:cNvSpPr txBox="1"/>
          <p:nvPr/>
        </p:nvSpPr>
        <p:spPr>
          <a:xfrm>
            <a:off x="1700479" y="4309110"/>
            <a:ext cx="4101083" cy="1104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en fase inicial</a:t>
            </a:r>
            <a:endParaRPr lang="en-US" sz="1609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 de capacitar a operadores</a:t>
            </a:r>
            <a:endParaRPr lang="en-US" sz="1609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limitado por el componente académico</a:t>
            </a:r>
            <a:endParaRPr lang="en-US" sz="1609" dirty="0"/>
          </a:p>
        </p:txBody>
      </p:sp>
      <p:sp>
        <p:nvSpPr>
          <p:cNvPr id="14" name="Shape 12"/>
          <p:cNvSpPr/>
          <p:nvPr/>
        </p:nvSpPr>
        <p:spPr>
          <a:xfrm>
            <a:off x="6201156" y="3730751"/>
            <a:ext cx="4521708" cy="1735073"/>
          </a:xfrm>
          <a:prstGeom prst="roundRect">
            <a:avLst>
              <a:gd name="adj" fmla="val 4848"/>
            </a:avLst>
          </a:prstGeom>
          <a:solidFill>
            <a:srgbClr val="F1F5F9"/>
          </a:solidFill>
          <a:ln w="14604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32499" y="3877970"/>
            <a:ext cx="4101083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70" b="1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</a:t>
            </a:r>
            <a:endParaRPr lang="en-US" sz="2070" dirty="0"/>
          </a:p>
        </p:txBody>
      </p:sp>
      <p:sp>
        <p:nvSpPr>
          <p:cNvPr id="16" name="Text 14"/>
          <p:cNvSpPr txBox="1"/>
          <p:nvPr/>
        </p:nvSpPr>
        <p:spPr>
          <a:xfrm>
            <a:off x="6432499" y="4309110"/>
            <a:ext cx="4101083" cy="1104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internacionales consolidadas</a:t>
            </a:r>
            <a:endParaRPr lang="en-US" sz="1609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de ciberseguridad y fraude</a:t>
            </a:r>
            <a:endParaRPr lang="en-US" sz="1609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la regulación de pagos digitales</a:t>
            </a:r>
            <a:endParaRPr lang="en-US" sz="1609" dirty="0"/>
          </a:p>
        </p:txBody>
      </p:sp>
      <p:sp>
        <p:nvSpPr>
          <p:cNvPr id="17" name="Text 15"/>
          <p:cNvSpPr txBox="1"/>
          <p:nvPr/>
        </p:nvSpPr>
        <p:spPr>
          <a:xfrm>
            <a:off x="1469136" y="5749747"/>
            <a:ext cx="630935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Explora-Nicaragua · Integrador II</a:t>
            </a:r>
            <a:endParaRPr lang="en-US" sz="1265" dirty="0"/>
          </a:p>
        </p:txBody>
      </p:sp>
      <p:sp>
        <p:nvSpPr>
          <p:cNvPr id="18" name="Text 16"/>
          <p:cNvSpPr txBox="1"/>
          <p:nvPr/>
        </p:nvSpPr>
        <p:spPr>
          <a:xfrm>
            <a:off x="10091928" y="5749747"/>
            <a:ext cx="6309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6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6558" y="807415"/>
            <a:ext cx="630936" cy="630936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416558" y="807415"/>
            <a:ext cx="630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70" dirty="0"/>
          </a:p>
        </p:txBody>
      </p:sp>
      <p:sp>
        <p:nvSpPr>
          <p:cNvPr id="4" name="Text 2"/>
          <p:cNvSpPr txBox="1"/>
          <p:nvPr/>
        </p:nvSpPr>
        <p:spPr>
          <a:xfrm>
            <a:off x="2257806" y="765352"/>
            <a:ext cx="8465058" cy="71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40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identidad nacional</a:t>
            </a:r>
            <a:endParaRPr lang="en-US" sz="4140" dirty="0"/>
          </a:p>
        </p:txBody>
      </p:sp>
      <p:sp>
        <p:nvSpPr>
          <p:cNvPr id="5" name="Shape 3"/>
          <p:cNvSpPr/>
          <p:nvPr/>
        </p:nvSpPr>
        <p:spPr>
          <a:xfrm>
            <a:off x="1469136" y="1837944"/>
            <a:ext cx="3049523" cy="1787651"/>
          </a:xfrm>
          <a:prstGeom prst="roundRect">
            <a:avLst>
              <a:gd name="adj" fmla="val 4706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79448" y="1985162"/>
            <a:ext cx="262890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b="1" dirty="0">
                <a:solidFill>
                  <a:srgbClr val="174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de datos</a:t>
            </a:r>
            <a:endParaRPr lang="en-US" sz="1609" dirty="0"/>
          </a:p>
        </p:txBody>
      </p:sp>
      <p:sp>
        <p:nvSpPr>
          <p:cNvPr id="7" name="Text 5"/>
          <p:cNvSpPr txBox="1"/>
          <p:nvPr/>
        </p:nvSpPr>
        <p:spPr>
          <a:xfrm>
            <a:off x="1679448" y="2384755"/>
            <a:ext cx="26289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previsto: cifrado SSL/TLS, JWT y pagos con Stripe (PCI DSS), sin almacenar datos de tarjetas.</a:t>
            </a:r>
            <a:endParaRPr lang="en-US" sz="1609" dirty="0"/>
          </a:p>
        </p:txBody>
      </p:sp>
      <p:sp>
        <p:nvSpPr>
          <p:cNvPr id="8" name="Shape 6"/>
          <p:cNvSpPr/>
          <p:nvPr/>
        </p:nvSpPr>
        <p:spPr>
          <a:xfrm>
            <a:off x="4728972" y="1837944"/>
            <a:ext cx="3049523" cy="1787651"/>
          </a:xfrm>
          <a:prstGeom prst="roundRect">
            <a:avLst>
              <a:gd name="adj" fmla="val 4706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9284" y="1985162"/>
            <a:ext cx="262890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b="1" dirty="0">
                <a:solidFill>
                  <a:srgbClr val="174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Inclusión</a:t>
            </a:r>
            <a:endParaRPr lang="en-US" sz="1609" dirty="0"/>
          </a:p>
        </p:txBody>
      </p:sp>
      <p:sp>
        <p:nvSpPr>
          <p:cNvPr id="10" name="Text 8"/>
          <p:cNvSpPr txBox="1"/>
          <p:nvPr/>
        </p:nvSpPr>
        <p:spPr>
          <a:xfrm>
            <a:off x="4939284" y="2384755"/>
            <a:ext cx="26289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sencilla para operadores con poca experiencia técnica y app móvil bilingüe en el futuro.</a:t>
            </a:r>
            <a:endParaRPr lang="en-US" sz="1609" dirty="0"/>
          </a:p>
        </p:txBody>
      </p:sp>
      <p:sp>
        <p:nvSpPr>
          <p:cNvPr id="11" name="Shape 9"/>
          <p:cNvSpPr/>
          <p:nvPr/>
        </p:nvSpPr>
        <p:spPr>
          <a:xfrm>
            <a:off x="7988807" y="1837944"/>
            <a:ext cx="3049523" cy="1787651"/>
          </a:xfrm>
          <a:prstGeom prst="roundRect">
            <a:avLst>
              <a:gd name="adj" fmla="val 4706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99119" y="1985162"/>
            <a:ext cx="262890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b="1" dirty="0">
                <a:solidFill>
                  <a:srgbClr val="174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económico local</a:t>
            </a:r>
            <a:endParaRPr lang="en-US" sz="1609" dirty="0"/>
          </a:p>
        </p:txBody>
      </p:sp>
      <p:sp>
        <p:nvSpPr>
          <p:cNvPr id="13" name="Text 11"/>
          <p:cNvSpPr txBox="1"/>
          <p:nvPr/>
        </p:nvSpPr>
        <p:spPr>
          <a:xfrm>
            <a:off x="8199119" y="2384755"/>
            <a:ext cx="26289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comisión menor retiene más valor de las transacciones en la economía nicaragüense.</a:t>
            </a:r>
            <a:endParaRPr lang="en-US" sz="1609" dirty="0"/>
          </a:p>
        </p:txBody>
      </p:sp>
      <p:sp>
        <p:nvSpPr>
          <p:cNvPr id="14" name="Shape 12"/>
          <p:cNvSpPr/>
          <p:nvPr/>
        </p:nvSpPr>
        <p:spPr>
          <a:xfrm>
            <a:off x="1469136" y="3783329"/>
            <a:ext cx="3049523" cy="1787651"/>
          </a:xfrm>
          <a:prstGeom prst="roundRect">
            <a:avLst>
              <a:gd name="adj" fmla="val 4706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79448" y="3930548"/>
            <a:ext cx="262890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b="1" dirty="0">
                <a:solidFill>
                  <a:srgbClr val="174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nacional</a:t>
            </a:r>
            <a:endParaRPr lang="en-US" sz="1609" dirty="0"/>
          </a:p>
        </p:txBody>
      </p:sp>
      <p:sp>
        <p:nvSpPr>
          <p:cNvPr id="16" name="Text 14"/>
          <p:cNvSpPr txBox="1"/>
          <p:nvPr/>
        </p:nvSpPr>
        <p:spPr>
          <a:xfrm>
            <a:off x="1679448" y="4330141"/>
            <a:ext cx="26289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Promueve Ometepe, Somoto, San Juan del Sur, Solentiname y el Río San Juan.</a:t>
            </a:r>
            <a:endParaRPr lang="en-US" sz="1609" dirty="0"/>
          </a:p>
        </p:txBody>
      </p:sp>
      <p:sp>
        <p:nvSpPr>
          <p:cNvPr id="17" name="Shape 15"/>
          <p:cNvSpPr/>
          <p:nvPr/>
        </p:nvSpPr>
        <p:spPr>
          <a:xfrm>
            <a:off x="4728972" y="3783329"/>
            <a:ext cx="3049523" cy="1787651"/>
          </a:xfrm>
          <a:prstGeom prst="roundRect">
            <a:avLst>
              <a:gd name="adj" fmla="val 4706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9284" y="3930548"/>
            <a:ext cx="262890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b="1" dirty="0">
                <a:solidFill>
                  <a:srgbClr val="174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Formalización</a:t>
            </a:r>
            <a:endParaRPr lang="en-US" sz="1609" dirty="0"/>
          </a:p>
        </p:txBody>
      </p:sp>
      <p:sp>
        <p:nvSpPr>
          <p:cNvPr id="19" name="Text 17"/>
          <p:cNvSpPr txBox="1"/>
          <p:nvPr/>
        </p:nvSpPr>
        <p:spPr>
          <a:xfrm>
            <a:off x="4939284" y="4330141"/>
            <a:ext cx="26289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verificación documental incentiva la formalización de agencias y guías.</a:t>
            </a:r>
            <a:endParaRPr lang="en-US" sz="1609" dirty="0"/>
          </a:p>
        </p:txBody>
      </p:sp>
      <p:sp>
        <p:nvSpPr>
          <p:cNvPr id="20" name="Shape 18"/>
          <p:cNvSpPr/>
          <p:nvPr/>
        </p:nvSpPr>
        <p:spPr>
          <a:xfrm>
            <a:off x="7988807" y="3783329"/>
            <a:ext cx="3049523" cy="1787651"/>
          </a:xfrm>
          <a:prstGeom prst="roundRect">
            <a:avLst>
              <a:gd name="adj" fmla="val 4706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99119" y="3930548"/>
            <a:ext cx="2628900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b="1" dirty="0">
                <a:solidFill>
                  <a:srgbClr val="174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Sostenibilidad y transparencia</a:t>
            </a:r>
            <a:endParaRPr lang="en-US" sz="1609" dirty="0"/>
          </a:p>
        </p:txBody>
      </p:sp>
      <p:sp>
        <p:nvSpPr>
          <p:cNvPr id="22" name="Text 20"/>
          <p:cNvSpPr txBox="1"/>
          <p:nvPr/>
        </p:nvSpPr>
        <p:spPr>
          <a:xfrm>
            <a:off x="8199119" y="4330141"/>
            <a:ext cx="26289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 responsable, reseñas verificadas y bitácora de auditoría.</a:t>
            </a:r>
            <a:endParaRPr lang="en-US" sz="1609" dirty="0"/>
          </a:p>
        </p:txBody>
      </p:sp>
      <p:sp>
        <p:nvSpPr>
          <p:cNvPr id="23" name="Text 21"/>
          <p:cNvSpPr txBox="1"/>
          <p:nvPr/>
        </p:nvSpPr>
        <p:spPr>
          <a:xfrm>
            <a:off x="1469136" y="5749747"/>
            <a:ext cx="630935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Explora-Nicaragua · Integrador II</a:t>
            </a:r>
            <a:endParaRPr lang="en-US" sz="1265" dirty="0"/>
          </a:p>
        </p:txBody>
      </p:sp>
      <p:sp>
        <p:nvSpPr>
          <p:cNvPr id="24" name="Text 22"/>
          <p:cNvSpPr txBox="1"/>
          <p:nvPr/>
        </p:nvSpPr>
        <p:spPr>
          <a:xfrm>
            <a:off x="10091928" y="5749747"/>
            <a:ext cx="6309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6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6558" y="807415"/>
            <a:ext cx="630936" cy="630936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416558" y="807415"/>
            <a:ext cx="630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70" dirty="0"/>
          </a:p>
        </p:txBody>
      </p:sp>
      <p:sp>
        <p:nvSpPr>
          <p:cNvPr id="4" name="Text 2"/>
          <p:cNvSpPr txBox="1"/>
          <p:nvPr/>
        </p:nvSpPr>
        <p:spPr>
          <a:xfrm>
            <a:off x="2257806" y="765352"/>
            <a:ext cx="8465058" cy="71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40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del proceso actual</a:t>
            </a:r>
            <a:endParaRPr lang="en-US" sz="4140" dirty="0"/>
          </a:p>
        </p:txBody>
      </p:sp>
      <p:sp>
        <p:nvSpPr>
          <p:cNvPr id="5" name="Shape 3"/>
          <p:cNvSpPr/>
          <p:nvPr/>
        </p:nvSpPr>
        <p:spPr>
          <a:xfrm>
            <a:off x="1363980" y="1890521"/>
            <a:ext cx="1997963" cy="1104138"/>
          </a:xfrm>
          <a:prstGeom prst="roundRect">
            <a:avLst>
              <a:gd name="adj" fmla="val 7619"/>
            </a:avLst>
          </a:prstGeom>
          <a:solidFill>
            <a:srgbClr val="D2E4FF"/>
          </a:solidFill>
          <a:ln w="18256">
            <a:solidFill>
              <a:srgbClr val="0369A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9136" y="1890521"/>
            <a:ext cx="1787651" cy="1104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Turista consulta por WhatsApp o teléfono</a:t>
            </a:r>
            <a:endParaRPr lang="en-US" sz="1609" dirty="0"/>
          </a:p>
        </p:txBody>
      </p:sp>
      <p:sp>
        <p:nvSpPr>
          <p:cNvPr id="7" name="Shape 5"/>
          <p:cNvSpPr/>
          <p:nvPr/>
        </p:nvSpPr>
        <p:spPr>
          <a:xfrm>
            <a:off x="3835146" y="1890521"/>
            <a:ext cx="1997963" cy="1104138"/>
          </a:xfrm>
          <a:prstGeom prst="roundRect">
            <a:avLst>
              <a:gd name="adj" fmla="val 7619"/>
            </a:avLst>
          </a:prstGeom>
          <a:solidFill>
            <a:srgbClr val="EFF4FF"/>
          </a:solidFill>
          <a:ln w="18256">
            <a:solidFill>
              <a:srgbClr val="1744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40301" y="1890521"/>
            <a:ext cx="1787651" cy="1104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revisa libreta u hoja de cálculo</a:t>
            </a:r>
            <a:endParaRPr lang="en-US" sz="1609" dirty="0"/>
          </a:p>
        </p:txBody>
      </p:sp>
      <p:sp>
        <p:nvSpPr>
          <p:cNvPr id="9" name="Shape 7"/>
          <p:cNvSpPr/>
          <p:nvPr/>
        </p:nvSpPr>
        <p:spPr>
          <a:xfrm>
            <a:off x="6306312" y="1890521"/>
            <a:ext cx="1997963" cy="1104138"/>
          </a:xfrm>
          <a:prstGeom prst="roundRect">
            <a:avLst>
              <a:gd name="adj" fmla="val 7619"/>
            </a:avLst>
          </a:prstGeom>
          <a:solidFill>
            <a:srgbClr val="FEF9C3"/>
          </a:solidFill>
          <a:ln w="18256">
            <a:solidFill>
              <a:srgbClr val="A1620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1468" y="1890521"/>
            <a:ext cx="1787651" cy="1104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9" b="1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cupo?</a:t>
            </a:r>
            <a:endParaRPr lang="en-US" sz="1609" dirty="0"/>
          </a:p>
        </p:txBody>
      </p:sp>
      <p:sp>
        <p:nvSpPr>
          <p:cNvPr id="11" name="Shape 9"/>
          <p:cNvSpPr/>
          <p:nvPr/>
        </p:nvSpPr>
        <p:spPr>
          <a:xfrm>
            <a:off x="8777478" y="1890521"/>
            <a:ext cx="1997963" cy="1104138"/>
          </a:xfrm>
          <a:prstGeom prst="roundRect">
            <a:avLst>
              <a:gd name="adj" fmla="val 7619"/>
            </a:avLst>
          </a:prstGeom>
          <a:solidFill>
            <a:srgbClr val="EFF4FF"/>
          </a:solidFill>
          <a:ln w="18256">
            <a:solidFill>
              <a:srgbClr val="17447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82634" y="1890521"/>
            <a:ext cx="1787651" cy="1104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por mensaje y cobra por transferencia</a:t>
            </a:r>
            <a:endParaRPr lang="en-US" sz="1609" dirty="0"/>
          </a:p>
        </p:txBody>
      </p:sp>
      <p:sp>
        <p:nvSpPr>
          <p:cNvPr id="13" name="Shape 11"/>
          <p:cNvSpPr/>
          <p:nvPr/>
        </p:nvSpPr>
        <p:spPr>
          <a:xfrm>
            <a:off x="3361944" y="2442591"/>
            <a:ext cx="473201" cy="0"/>
          </a:xfrm>
          <a:prstGeom prst="line">
            <a:avLst/>
          </a:prstGeom>
          <a:noFill/>
          <a:ln w="21907">
            <a:solidFill>
              <a:srgbClr val="44474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33110" y="2442591"/>
            <a:ext cx="473201" cy="0"/>
          </a:xfrm>
          <a:prstGeom prst="line">
            <a:avLst/>
          </a:prstGeom>
          <a:noFill/>
          <a:ln w="21907">
            <a:solidFill>
              <a:srgbClr val="44474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304275" y="2442591"/>
            <a:ext cx="473201" cy="0"/>
          </a:xfrm>
          <a:prstGeom prst="line">
            <a:avLst/>
          </a:prstGeom>
          <a:noFill/>
          <a:ln w="21907">
            <a:solidFill>
              <a:srgbClr val="44474F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8304275" y="2069287"/>
            <a:ext cx="473201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9" b="1" dirty="0">
                <a:solidFill>
                  <a:srgbClr val="174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609" dirty="0"/>
          </a:p>
        </p:txBody>
      </p:sp>
      <p:sp>
        <p:nvSpPr>
          <p:cNvPr id="17" name="Shape 15"/>
          <p:cNvSpPr/>
          <p:nvPr/>
        </p:nvSpPr>
        <p:spPr>
          <a:xfrm>
            <a:off x="7305293" y="2994660"/>
            <a:ext cx="0" cy="841247"/>
          </a:xfrm>
          <a:prstGeom prst="line">
            <a:avLst/>
          </a:prstGeom>
          <a:noFill/>
          <a:ln w="21907">
            <a:solidFill>
              <a:srgbClr val="44474F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7410449" y="3099816"/>
            <a:ext cx="5257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b="1" dirty="0">
                <a:solidFill>
                  <a:srgbClr val="A3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609" dirty="0"/>
          </a:p>
        </p:txBody>
      </p:sp>
      <p:sp>
        <p:nvSpPr>
          <p:cNvPr id="19" name="Shape 17"/>
          <p:cNvSpPr/>
          <p:nvPr/>
        </p:nvSpPr>
        <p:spPr>
          <a:xfrm>
            <a:off x="6306312" y="3835907"/>
            <a:ext cx="1997963" cy="946403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8256">
            <a:solidFill>
              <a:srgbClr val="4447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1468" y="3835907"/>
            <a:ext cx="1787651" cy="946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Turista espera confirmación manual</a:t>
            </a:r>
            <a:endParaRPr lang="en-US" sz="1609" dirty="0"/>
          </a:p>
        </p:txBody>
      </p:sp>
      <p:sp>
        <p:nvSpPr>
          <p:cNvPr id="21" name="Shape 19"/>
          <p:cNvSpPr/>
          <p:nvPr/>
        </p:nvSpPr>
        <p:spPr>
          <a:xfrm>
            <a:off x="9776460" y="2994660"/>
            <a:ext cx="0" cy="841247"/>
          </a:xfrm>
          <a:prstGeom prst="line">
            <a:avLst/>
          </a:prstGeom>
          <a:noFill/>
          <a:ln w="21907">
            <a:solidFill>
              <a:srgbClr val="44474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777478" y="3835907"/>
            <a:ext cx="1997963" cy="946403"/>
          </a:xfrm>
          <a:prstGeom prst="roundRect">
            <a:avLst>
              <a:gd name="adj" fmla="val 8889"/>
            </a:avLst>
          </a:prstGeom>
          <a:solidFill>
            <a:srgbClr val="FEF9C3"/>
          </a:solidFill>
          <a:ln w="18256">
            <a:solidFill>
              <a:srgbClr val="A1620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82634" y="3835907"/>
            <a:ext cx="1787651" cy="946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extranjera cobra ~25 %</a:t>
            </a:r>
            <a:endParaRPr lang="en-US" sz="1609" dirty="0"/>
          </a:p>
        </p:txBody>
      </p:sp>
      <p:sp>
        <p:nvSpPr>
          <p:cNvPr id="24" name="Text 22"/>
          <p:cNvSpPr txBox="1"/>
          <p:nvPr/>
        </p:nvSpPr>
        <p:spPr>
          <a:xfrm>
            <a:off x="1363980" y="4992624"/>
            <a:ext cx="93588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Consecuencias: registros manuales, dobles reservas y sobreventa de cupos, comisiones elevadas y ausencia de voucher o trazabilidad.</a:t>
            </a:r>
            <a:endParaRPr lang="en-US" sz="1609" dirty="0"/>
          </a:p>
        </p:txBody>
      </p:sp>
      <p:sp>
        <p:nvSpPr>
          <p:cNvPr id="25" name="Text 23"/>
          <p:cNvSpPr txBox="1"/>
          <p:nvPr/>
        </p:nvSpPr>
        <p:spPr>
          <a:xfrm>
            <a:off x="1469136" y="5749747"/>
            <a:ext cx="630935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Explora-Nicaragua · Integrador II</a:t>
            </a:r>
            <a:endParaRPr lang="en-US" sz="1265" dirty="0"/>
          </a:p>
        </p:txBody>
      </p:sp>
      <p:sp>
        <p:nvSpPr>
          <p:cNvPr id="26" name="Text 24"/>
          <p:cNvSpPr txBox="1"/>
          <p:nvPr/>
        </p:nvSpPr>
        <p:spPr>
          <a:xfrm>
            <a:off x="10091928" y="5749747"/>
            <a:ext cx="6309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6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6558" y="807415"/>
            <a:ext cx="630936" cy="630936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416558" y="807415"/>
            <a:ext cx="630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70" dirty="0"/>
          </a:p>
        </p:txBody>
      </p:sp>
      <p:sp>
        <p:nvSpPr>
          <p:cNvPr id="4" name="Text 2"/>
          <p:cNvSpPr txBox="1"/>
          <p:nvPr/>
        </p:nvSpPr>
        <p:spPr>
          <a:xfrm>
            <a:off x="2257806" y="765352"/>
            <a:ext cx="8465058" cy="71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40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prototipo</a:t>
            </a:r>
            <a:endParaRPr lang="en-US" sz="4140" dirty="0"/>
          </a:p>
        </p:txBody>
      </p:sp>
      <p:sp>
        <p:nvSpPr>
          <p:cNvPr id="5" name="Shape 3"/>
          <p:cNvSpPr/>
          <p:nvPr/>
        </p:nvSpPr>
        <p:spPr>
          <a:xfrm>
            <a:off x="1469136" y="1837944"/>
            <a:ext cx="2523744" cy="893825"/>
          </a:xfrm>
          <a:prstGeom prst="roundRect">
            <a:avLst>
              <a:gd name="adj" fmla="val 9412"/>
            </a:avLst>
          </a:prstGeom>
          <a:solidFill>
            <a:srgbClr val="EFF4FF"/>
          </a:solidFill>
          <a:ln w="18256">
            <a:solidFill>
              <a:srgbClr val="17447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74292" y="1837944"/>
            <a:ext cx="2313432" cy="89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9" b="1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 de escritorio</a:t>
            </a:r>
            <a:endParaRPr lang="en-US" sz="1609" dirty="0"/>
          </a:p>
          <a:p>
            <a:pPr marL="0" indent="0" algn="ctr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· WinForms</a:t>
            </a:r>
            <a:endParaRPr lang="en-US" sz="1609" dirty="0"/>
          </a:p>
        </p:txBody>
      </p:sp>
      <p:sp>
        <p:nvSpPr>
          <p:cNvPr id="7" name="Shape 5"/>
          <p:cNvSpPr/>
          <p:nvPr/>
        </p:nvSpPr>
        <p:spPr>
          <a:xfrm>
            <a:off x="4203192" y="1837944"/>
            <a:ext cx="2523744" cy="893825"/>
          </a:xfrm>
          <a:prstGeom prst="roundRect">
            <a:avLst>
              <a:gd name="adj" fmla="val 9412"/>
            </a:avLst>
          </a:prstGeom>
          <a:solidFill>
            <a:srgbClr val="EFF4FF"/>
          </a:solidFill>
          <a:ln w="18256">
            <a:solidFill>
              <a:srgbClr val="1744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08348" y="1837944"/>
            <a:ext cx="2313432" cy="89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9" b="1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</a:t>
            </a:r>
            <a:endParaRPr lang="en-US" sz="1609" dirty="0"/>
          </a:p>
          <a:p>
            <a:pPr marL="0" indent="0" algn="ctr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gestor · WinForms</a:t>
            </a:r>
            <a:endParaRPr lang="en-US" sz="1609" dirty="0"/>
          </a:p>
        </p:txBody>
      </p:sp>
      <p:sp>
        <p:nvSpPr>
          <p:cNvPr id="9" name="Shape 7"/>
          <p:cNvSpPr/>
          <p:nvPr/>
        </p:nvSpPr>
        <p:spPr>
          <a:xfrm>
            <a:off x="2731008" y="2731770"/>
            <a:ext cx="0" cy="525780"/>
          </a:xfrm>
          <a:prstGeom prst="line">
            <a:avLst/>
          </a:prstGeom>
          <a:noFill/>
          <a:ln w="21907">
            <a:solidFill>
              <a:srgbClr val="44474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65064" y="2731770"/>
            <a:ext cx="0" cy="525780"/>
          </a:xfrm>
          <a:prstGeom prst="line">
            <a:avLst/>
          </a:prstGeom>
          <a:noFill/>
          <a:ln w="21907">
            <a:solidFill>
              <a:srgbClr val="44474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69136" y="3257550"/>
            <a:ext cx="5257800" cy="893825"/>
          </a:xfrm>
          <a:prstGeom prst="roundRect">
            <a:avLst>
              <a:gd name="adj" fmla="val 9412"/>
            </a:avLst>
          </a:prstGeom>
          <a:solidFill>
            <a:srgbClr val="173861"/>
          </a:solidFill>
          <a:ln w="14604">
            <a:solidFill>
              <a:srgbClr val="1738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69136" y="3257550"/>
            <a:ext cx="5257800" cy="89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(.NET 8)</a:t>
            </a:r>
            <a:endParaRPr lang="en-US" sz="1609" dirty="0"/>
          </a:p>
          <a:p>
            <a:pPr marL="0" indent="0" algn="ctr">
              <a:buNone/>
            </a:pPr>
            <a:r>
              <a:rPr lang="en-US" sz="1494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 · JWT · RBAC</a:t>
            </a:r>
            <a:endParaRPr lang="en-US" sz="1609" dirty="0"/>
          </a:p>
        </p:txBody>
      </p:sp>
      <p:sp>
        <p:nvSpPr>
          <p:cNvPr id="13" name="Shape 11"/>
          <p:cNvSpPr/>
          <p:nvPr/>
        </p:nvSpPr>
        <p:spPr>
          <a:xfrm>
            <a:off x="2731008" y="4151375"/>
            <a:ext cx="0" cy="525780"/>
          </a:xfrm>
          <a:prstGeom prst="line">
            <a:avLst/>
          </a:prstGeom>
          <a:noFill/>
          <a:ln w="21907">
            <a:solidFill>
              <a:srgbClr val="44474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65064" y="4151375"/>
            <a:ext cx="0" cy="525780"/>
          </a:xfrm>
          <a:prstGeom prst="line">
            <a:avLst/>
          </a:prstGeom>
          <a:noFill/>
          <a:ln w="21907">
            <a:solidFill>
              <a:srgbClr val="44474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469136" y="4677156"/>
            <a:ext cx="2523744" cy="788669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8256">
            <a:solidFill>
              <a:srgbClr val="4447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69136" y="4677156"/>
            <a:ext cx="2523744" cy="788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</a:t>
            </a:r>
            <a:endParaRPr lang="en-US" sz="1609" dirty="0"/>
          </a:p>
        </p:txBody>
      </p:sp>
      <p:sp>
        <p:nvSpPr>
          <p:cNvPr id="17" name="Shape 15"/>
          <p:cNvSpPr/>
          <p:nvPr/>
        </p:nvSpPr>
        <p:spPr>
          <a:xfrm>
            <a:off x="4203192" y="4677156"/>
            <a:ext cx="2523744" cy="788669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8256">
            <a:solidFill>
              <a:srgbClr val="4447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03192" y="4677156"/>
            <a:ext cx="2523744" cy="788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 Stripe (webhooks)</a:t>
            </a:r>
            <a:endParaRPr lang="en-US" sz="1609" dirty="0"/>
          </a:p>
        </p:txBody>
      </p:sp>
      <p:sp>
        <p:nvSpPr>
          <p:cNvPr id="19" name="Text 17"/>
          <p:cNvSpPr txBox="1"/>
          <p:nvPr/>
        </p:nvSpPr>
        <p:spPr>
          <a:xfrm>
            <a:off x="1469136" y="5518404"/>
            <a:ext cx="5257800" cy="210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del turista: trabajo futuro sobre la misma API.</a:t>
            </a:r>
            <a:endParaRPr lang="en-US" sz="1265" dirty="0"/>
          </a:p>
        </p:txBody>
      </p:sp>
      <p:sp>
        <p:nvSpPr>
          <p:cNvPr id="20" name="Text 18"/>
          <p:cNvSpPr txBox="1"/>
          <p:nvPr/>
        </p:nvSpPr>
        <p:spPr>
          <a:xfrm>
            <a:off x="7252715" y="1837944"/>
            <a:ext cx="3470147" cy="420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70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</a:t>
            </a:r>
            <a:endParaRPr lang="en-US" sz="2070" dirty="0"/>
          </a:p>
        </p:txBody>
      </p:sp>
      <p:sp>
        <p:nvSpPr>
          <p:cNvPr id="21" name="Text 19"/>
          <p:cNvSpPr txBox="1"/>
          <p:nvPr/>
        </p:nvSpPr>
        <p:spPr>
          <a:xfrm>
            <a:off x="7252715" y="2416302"/>
            <a:ext cx="3470147" cy="3154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y C#</a:t>
            </a:r>
            <a:endParaRPr lang="en-US" sz="1609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 con patrón MVP</a:t>
            </a:r>
            <a:endParaRPr lang="en-US" sz="1609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tipado e IHttpClientFactory</a:t>
            </a:r>
            <a:endParaRPr lang="en-US" sz="1609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JWT y OAuth 2.0</a:t>
            </a:r>
            <a:endParaRPr lang="en-US" sz="1609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basado en roles (RBAC)</a:t>
            </a:r>
            <a:endParaRPr lang="en-US" sz="1609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con Stripe PaymentIntents</a:t>
            </a:r>
            <a:endParaRPr lang="en-US" sz="1609" dirty="0"/>
          </a:p>
        </p:txBody>
      </p:sp>
      <p:sp>
        <p:nvSpPr>
          <p:cNvPr id="22" name="Text 20"/>
          <p:cNvSpPr txBox="1"/>
          <p:nvPr/>
        </p:nvSpPr>
        <p:spPr>
          <a:xfrm>
            <a:off x="1469136" y="5749747"/>
            <a:ext cx="630935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Explora-Nicaragua · Integrador II</a:t>
            </a:r>
            <a:endParaRPr lang="en-US" sz="1265" dirty="0"/>
          </a:p>
        </p:txBody>
      </p:sp>
      <p:sp>
        <p:nvSpPr>
          <p:cNvPr id="23" name="Text 21"/>
          <p:cNvSpPr txBox="1"/>
          <p:nvPr/>
        </p:nvSpPr>
        <p:spPr>
          <a:xfrm>
            <a:off x="10091928" y="5749747"/>
            <a:ext cx="6309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6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6558" y="807415"/>
            <a:ext cx="630936" cy="630936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416558" y="807415"/>
            <a:ext cx="630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70" dirty="0"/>
          </a:p>
        </p:txBody>
      </p:sp>
      <p:sp>
        <p:nvSpPr>
          <p:cNvPr id="4" name="Text 2"/>
          <p:cNvSpPr txBox="1"/>
          <p:nvPr/>
        </p:nvSpPr>
        <p:spPr>
          <a:xfrm>
            <a:off x="2257806" y="765352"/>
            <a:ext cx="8465058" cy="71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40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prototipo</a:t>
            </a:r>
            <a:endParaRPr lang="en-US" sz="4140" dirty="0"/>
          </a:p>
        </p:txBody>
      </p:sp>
      <p:sp>
        <p:nvSpPr>
          <p:cNvPr id="5" name="Shape 3"/>
          <p:cNvSpPr/>
          <p:nvPr/>
        </p:nvSpPr>
        <p:spPr>
          <a:xfrm>
            <a:off x="1469136" y="1837944"/>
            <a:ext cx="4521708" cy="3627881"/>
          </a:xfrm>
          <a:prstGeom prst="roundRect">
            <a:avLst>
              <a:gd name="adj" fmla="val 2319"/>
            </a:avLst>
          </a:prstGeom>
          <a:solidFill>
            <a:srgbClr val="EFF4FF"/>
          </a:solidFill>
          <a:ln w="14604">
            <a:solidFill>
              <a:srgbClr val="EFF4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32026" y="2027224"/>
            <a:ext cx="4101083" cy="420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70" b="1" dirty="0">
                <a:solidFill>
                  <a:srgbClr val="174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 de escritorio</a:t>
            </a:r>
            <a:endParaRPr lang="en-US" sz="2070" dirty="0"/>
          </a:p>
        </p:txBody>
      </p:sp>
      <p:sp>
        <p:nvSpPr>
          <p:cNvPr id="7" name="Text 5"/>
          <p:cNvSpPr txBox="1"/>
          <p:nvPr/>
        </p:nvSpPr>
        <p:spPr>
          <a:xfrm>
            <a:off x="1732026" y="2447848"/>
            <a:ext cx="410108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94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operador de la agencia</a:t>
            </a:r>
            <a:endParaRPr lang="en-US" sz="1494" dirty="0"/>
          </a:p>
        </p:txBody>
      </p:sp>
      <p:sp>
        <p:nvSpPr>
          <p:cNvPr id="8" name="Text 6"/>
          <p:cNvSpPr txBox="1"/>
          <p:nvPr/>
        </p:nvSpPr>
        <p:spPr>
          <a:xfrm>
            <a:off x="1732026" y="2942082"/>
            <a:ext cx="4101083" cy="241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tours con fotos, precios y políticas</a:t>
            </a:r>
            <a:endParaRPr lang="en-US" sz="1609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por fechas, horarios y cupos</a:t>
            </a:r>
            <a:endParaRPr lang="en-US" sz="1609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y validación de voucher QR</a:t>
            </a:r>
            <a:endParaRPr lang="en-US" sz="1609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financieros: bruto, comisión y neto</a:t>
            </a:r>
            <a:endParaRPr lang="en-US" sz="1609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equipo y del perfil</a:t>
            </a:r>
            <a:endParaRPr lang="en-US" sz="1609" dirty="0"/>
          </a:p>
        </p:txBody>
      </p:sp>
      <p:sp>
        <p:nvSpPr>
          <p:cNvPr id="9" name="Shape 7"/>
          <p:cNvSpPr/>
          <p:nvPr/>
        </p:nvSpPr>
        <p:spPr>
          <a:xfrm>
            <a:off x="6201156" y="1837944"/>
            <a:ext cx="4521708" cy="3627881"/>
          </a:xfrm>
          <a:prstGeom prst="roundRect">
            <a:avLst>
              <a:gd name="adj" fmla="val 2319"/>
            </a:avLst>
          </a:prstGeom>
          <a:solidFill>
            <a:srgbClr val="D2E4FF"/>
          </a:solidFill>
          <a:ln w="14604">
            <a:solidFill>
              <a:srgbClr val="D2E4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4046" y="2027224"/>
            <a:ext cx="4101083" cy="420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7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</a:t>
            </a:r>
            <a:endParaRPr lang="en-US" sz="2070" dirty="0"/>
          </a:p>
        </p:txBody>
      </p:sp>
      <p:sp>
        <p:nvSpPr>
          <p:cNvPr id="11" name="Text 9"/>
          <p:cNvSpPr txBox="1"/>
          <p:nvPr/>
        </p:nvSpPr>
        <p:spPr>
          <a:xfrm>
            <a:off x="6464046" y="2447848"/>
            <a:ext cx="410108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94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equipo gestor</a:t>
            </a:r>
            <a:endParaRPr lang="en-US" sz="1494" dirty="0"/>
          </a:p>
        </p:txBody>
      </p:sp>
      <p:sp>
        <p:nvSpPr>
          <p:cNvPr id="12" name="Text 10"/>
          <p:cNvSpPr txBox="1"/>
          <p:nvPr/>
        </p:nvSpPr>
        <p:spPr>
          <a:xfrm>
            <a:off x="6464046" y="2942082"/>
            <a:ext cx="4101083" cy="241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KPIs de la plataforma</a:t>
            </a:r>
            <a:endParaRPr lang="en-US" sz="1609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y gestión de operadores</a:t>
            </a:r>
            <a:endParaRPr lang="en-US" sz="1609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Moderación de tours y reseñas</a:t>
            </a:r>
            <a:endParaRPr lang="en-US" sz="1609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 y supervisión de pagos</a:t>
            </a:r>
            <a:endParaRPr lang="en-US" sz="1609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Reportes, configuración y auditoría</a:t>
            </a:r>
            <a:endParaRPr lang="en-US" sz="1609" dirty="0"/>
          </a:p>
        </p:txBody>
      </p:sp>
      <p:sp>
        <p:nvSpPr>
          <p:cNvPr id="13" name="Text 11"/>
          <p:cNvSpPr txBox="1"/>
          <p:nvPr/>
        </p:nvSpPr>
        <p:spPr>
          <a:xfrm>
            <a:off x="1469136" y="5749747"/>
            <a:ext cx="630935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Explora-Nicaragua · Integrador II</a:t>
            </a:r>
            <a:endParaRPr lang="en-US" sz="1265" dirty="0"/>
          </a:p>
        </p:txBody>
      </p:sp>
      <p:sp>
        <p:nvSpPr>
          <p:cNvPr id="14" name="Text 12"/>
          <p:cNvSpPr txBox="1"/>
          <p:nvPr/>
        </p:nvSpPr>
        <p:spPr>
          <a:xfrm>
            <a:off x="10091928" y="5749747"/>
            <a:ext cx="6309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6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6558" y="807415"/>
            <a:ext cx="630936" cy="630936"/>
          </a:xfrm>
          <a:prstGeom prst="ellipse">
            <a:avLst/>
          </a:prstGeom>
          <a:solidFill>
            <a:srgbClr val="174473"/>
          </a:solidFill>
          <a:ln w="14604">
            <a:solidFill>
              <a:srgbClr val="1744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416558" y="807415"/>
            <a:ext cx="630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70" dirty="0"/>
          </a:p>
        </p:txBody>
      </p:sp>
      <p:sp>
        <p:nvSpPr>
          <p:cNvPr id="4" name="Text 2"/>
          <p:cNvSpPr txBox="1"/>
          <p:nvPr/>
        </p:nvSpPr>
        <p:spPr>
          <a:xfrm>
            <a:off x="2257806" y="765352"/>
            <a:ext cx="8465058" cy="715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40" b="1" dirty="0">
                <a:solidFill>
                  <a:srgbClr val="1738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reserva automatizado</a:t>
            </a:r>
            <a:endParaRPr lang="en-US" sz="4140" dirty="0"/>
          </a:p>
        </p:txBody>
      </p:sp>
      <p:sp>
        <p:nvSpPr>
          <p:cNvPr id="5" name="Shape 3"/>
          <p:cNvSpPr/>
          <p:nvPr/>
        </p:nvSpPr>
        <p:spPr>
          <a:xfrm>
            <a:off x="1469136" y="1943099"/>
            <a:ext cx="2734056" cy="105156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8256">
            <a:solidFill>
              <a:srgbClr val="17447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26870" y="1943099"/>
            <a:ext cx="24185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b="1" dirty="0">
                <a:solidFill>
                  <a:srgbClr val="174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1609" dirty="0"/>
          </a:p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la reserva del turista</a:t>
            </a:r>
            <a:endParaRPr lang="en-US" sz="1609" dirty="0"/>
          </a:p>
        </p:txBody>
      </p:sp>
      <p:sp>
        <p:nvSpPr>
          <p:cNvPr id="7" name="Shape 5"/>
          <p:cNvSpPr/>
          <p:nvPr/>
        </p:nvSpPr>
        <p:spPr>
          <a:xfrm>
            <a:off x="4728972" y="1943099"/>
            <a:ext cx="2734056" cy="1051560"/>
          </a:xfrm>
          <a:prstGeom prst="roundRect">
            <a:avLst>
              <a:gd name="adj" fmla="val 8000"/>
            </a:avLst>
          </a:prstGeom>
          <a:solidFill>
            <a:srgbClr val="D2E4FF"/>
          </a:solidFill>
          <a:ln w="18256">
            <a:solidFill>
              <a:srgbClr val="0369A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86706" y="1943099"/>
            <a:ext cx="24185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1609" dirty="0"/>
          </a:p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y bloquear el cupo</a:t>
            </a:r>
            <a:endParaRPr lang="en-US" sz="1609" dirty="0"/>
          </a:p>
        </p:txBody>
      </p:sp>
      <p:sp>
        <p:nvSpPr>
          <p:cNvPr id="9" name="Shape 7"/>
          <p:cNvSpPr/>
          <p:nvPr/>
        </p:nvSpPr>
        <p:spPr>
          <a:xfrm>
            <a:off x="7988807" y="1943099"/>
            <a:ext cx="2734056" cy="105156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8256">
            <a:solidFill>
              <a:srgbClr val="1744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46541" y="1943099"/>
            <a:ext cx="24185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b="1" dirty="0">
                <a:solidFill>
                  <a:srgbClr val="174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n-US" sz="1609" dirty="0"/>
          </a:p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en línea con Stripe</a:t>
            </a:r>
            <a:endParaRPr lang="en-US" sz="1609" dirty="0"/>
          </a:p>
        </p:txBody>
      </p:sp>
      <p:sp>
        <p:nvSpPr>
          <p:cNvPr id="11" name="Shape 9"/>
          <p:cNvSpPr/>
          <p:nvPr/>
        </p:nvSpPr>
        <p:spPr>
          <a:xfrm>
            <a:off x="7988807" y="3520439"/>
            <a:ext cx="2734056" cy="1051560"/>
          </a:xfrm>
          <a:prstGeom prst="roundRect">
            <a:avLst>
              <a:gd name="adj" fmla="val 8000"/>
            </a:avLst>
          </a:prstGeom>
          <a:solidFill>
            <a:srgbClr val="D2E4FF"/>
          </a:solidFill>
          <a:ln w="18256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46541" y="3520439"/>
            <a:ext cx="24185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</a:t>
            </a:r>
            <a:endParaRPr lang="en-US" sz="1609" dirty="0"/>
          </a:p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voucher con código QR</a:t>
            </a:r>
            <a:endParaRPr lang="en-US" sz="1609" dirty="0"/>
          </a:p>
        </p:txBody>
      </p:sp>
      <p:sp>
        <p:nvSpPr>
          <p:cNvPr id="13" name="Shape 11"/>
          <p:cNvSpPr/>
          <p:nvPr/>
        </p:nvSpPr>
        <p:spPr>
          <a:xfrm>
            <a:off x="4728972" y="3520439"/>
            <a:ext cx="2734056" cy="105156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8256">
            <a:solidFill>
              <a:srgbClr val="17447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86706" y="3520439"/>
            <a:ext cx="24185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b="1" dirty="0">
                <a:solidFill>
                  <a:srgbClr val="174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</a:t>
            </a:r>
            <a:endParaRPr lang="en-US" sz="1609" dirty="0"/>
          </a:p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voucher el día del tour</a:t>
            </a:r>
            <a:endParaRPr lang="en-US" sz="1609" dirty="0"/>
          </a:p>
        </p:txBody>
      </p:sp>
      <p:sp>
        <p:nvSpPr>
          <p:cNvPr id="15" name="Shape 13"/>
          <p:cNvSpPr/>
          <p:nvPr/>
        </p:nvSpPr>
        <p:spPr>
          <a:xfrm>
            <a:off x="1469136" y="3520439"/>
            <a:ext cx="2734056" cy="1051560"/>
          </a:xfrm>
          <a:prstGeom prst="roundRect">
            <a:avLst>
              <a:gd name="adj" fmla="val 8000"/>
            </a:avLst>
          </a:prstGeom>
          <a:solidFill>
            <a:srgbClr val="D2E4FF"/>
          </a:solidFill>
          <a:ln w="18256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26870" y="3520439"/>
            <a:ext cx="24185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9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</a:t>
            </a:r>
            <a:endParaRPr lang="en-US" sz="1609" dirty="0"/>
          </a:p>
          <a:p>
            <a:pPr marL="0" indent="0">
              <a:buNone/>
            </a:pPr>
            <a:r>
              <a:rPr lang="en-US" sz="1609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financiero: bruto, comisión y neto</a:t>
            </a:r>
            <a:endParaRPr lang="en-US" sz="1609" dirty="0"/>
          </a:p>
        </p:txBody>
      </p:sp>
      <p:sp>
        <p:nvSpPr>
          <p:cNvPr id="17" name="Shape 15"/>
          <p:cNvSpPr/>
          <p:nvPr/>
        </p:nvSpPr>
        <p:spPr>
          <a:xfrm>
            <a:off x="4203192" y="2468880"/>
            <a:ext cx="525780" cy="0"/>
          </a:xfrm>
          <a:prstGeom prst="line">
            <a:avLst/>
          </a:prstGeom>
          <a:noFill/>
          <a:ln w="21907">
            <a:solidFill>
              <a:srgbClr val="44474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63027" y="2468880"/>
            <a:ext cx="525780" cy="0"/>
          </a:xfrm>
          <a:prstGeom prst="line">
            <a:avLst/>
          </a:prstGeom>
          <a:noFill/>
          <a:ln w="21907">
            <a:solidFill>
              <a:srgbClr val="44474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355836" y="2994660"/>
            <a:ext cx="0" cy="525780"/>
          </a:xfrm>
          <a:prstGeom prst="line">
            <a:avLst/>
          </a:prstGeom>
          <a:noFill/>
          <a:ln w="21907">
            <a:solidFill>
              <a:srgbClr val="44474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7463027" y="4046219"/>
            <a:ext cx="525780" cy="0"/>
          </a:xfrm>
          <a:prstGeom prst="line">
            <a:avLst/>
          </a:prstGeom>
          <a:noFill/>
          <a:ln w="21907">
            <a:solidFill>
              <a:srgbClr val="44474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4203192" y="4046219"/>
            <a:ext cx="525780" cy="0"/>
          </a:xfrm>
          <a:prstGeom prst="line">
            <a:avLst/>
          </a:prstGeom>
          <a:noFill/>
          <a:ln w="21907">
            <a:solidFill>
              <a:srgbClr val="44474F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1469136" y="4887468"/>
            <a:ext cx="925372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9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webhook firmado de Stripe confirma el pago, descuenta el cupo de forma definitiva y genera el voucher.</a:t>
            </a:r>
            <a:endParaRPr lang="en-US" sz="1609" dirty="0"/>
          </a:p>
        </p:txBody>
      </p:sp>
      <p:sp>
        <p:nvSpPr>
          <p:cNvPr id="23" name="Text 21"/>
          <p:cNvSpPr txBox="1"/>
          <p:nvPr/>
        </p:nvSpPr>
        <p:spPr>
          <a:xfrm>
            <a:off x="1469136" y="5749747"/>
            <a:ext cx="630935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Explora-Nicaragua · Integrador II</a:t>
            </a:r>
            <a:endParaRPr lang="en-US" sz="1265" dirty="0"/>
          </a:p>
        </p:txBody>
      </p:sp>
      <p:sp>
        <p:nvSpPr>
          <p:cNvPr id="24" name="Text 22"/>
          <p:cNvSpPr txBox="1"/>
          <p:nvPr/>
        </p:nvSpPr>
        <p:spPr>
          <a:xfrm>
            <a:off x="10091928" y="5749747"/>
            <a:ext cx="63093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65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6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3003</TotalTime>
  <Words>1255</Words>
  <Application>Microsoft Office PowerPoint</Application>
  <PresentationFormat>Widescreen</PresentationFormat>
  <Paragraphs>257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cuerpo</vt:lpstr>
      <vt:lpstr>Calibri Light</vt:lpstr>
      <vt:lpstr>Montserrat</vt:lpstr>
      <vt:lpstr>Tw Cen MT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Marvin Antonio Gutiérrez Rodríguez</dc:creator>
  <cp:lastModifiedBy>Alexander José Cano Calero</cp:lastModifiedBy>
  <cp:revision>98</cp:revision>
  <cp:lastPrinted>2024-02-08T19:25:25Z</cp:lastPrinted>
  <dcterms:created xsi:type="dcterms:W3CDTF">2021-03-17T19:41:32Z</dcterms:created>
  <dcterms:modified xsi:type="dcterms:W3CDTF">2026-10-10T06:39:31Z</dcterms:modified>
</cp:coreProperties>
</file>